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264" r:id="rId4"/>
    <p:sldId id="377" r:id="rId5"/>
    <p:sldId id="273" r:id="rId6"/>
    <p:sldId id="359" r:id="rId7"/>
    <p:sldId id="360" r:id="rId8"/>
    <p:sldId id="365" r:id="rId9"/>
    <p:sldId id="366" r:id="rId10"/>
    <p:sldId id="363" r:id="rId11"/>
    <p:sldId id="286" r:id="rId12"/>
    <p:sldId id="375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89233"/>
    <a:srgbClr val="FFFFFF"/>
    <a:srgbClr val="EFA218"/>
    <a:srgbClr val="F0A419"/>
    <a:srgbClr val="0C478D"/>
    <a:srgbClr val="F1A31B"/>
    <a:srgbClr val="FE9705"/>
    <a:srgbClr val="2634EC"/>
    <a:srgbClr val="0131B0"/>
    <a:srgbClr val="3B6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E90994-FF92-498B-9AF7-8F3AC2D6559B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392" y="176"/>
      </p:cViewPr>
      <p:guideLst>
        <p:guide orient="horz" pos="2114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5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背景1"/>
          <p:cNvPicPr/>
          <p:nvPr userDrawn="1"/>
        </p:nvPicPr>
        <p:blipFill>
          <a:blip r:embed="rId2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应急管理处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运营管理部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水电专业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信息部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自动化部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电网技术部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-6350" y="6388735"/>
            <a:ext cx="24091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电力调度中心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-6350" y="6388735"/>
            <a:ext cx="24091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气体调度中心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电气运维部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背景1"/>
          <p:cNvPicPr/>
          <p:nvPr userDrawn="1"/>
        </p:nvPicPr>
        <p:blipFill>
          <a:blip r:embed="rId3"/>
          <a:srcRect t="83663"/>
          <a:stretch>
            <a:fillRect/>
          </a:stretch>
        </p:blipFill>
        <p:spPr>
          <a:xfrm>
            <a:off x="-12700" y="5804535"/>
            <a:ext cx="12240000" cy="107886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应急管理处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14" name="图片 13" descr="safety first logo"/>
          <p:cNvPicPr>
            <a:picLocks noChangeAspect="1"/>
          </p:cNvPicPr>
          <p:nvPr userDrawn="1"/>
        </p:nvPicPr>
        <p:blipFill>
          <a:blip r:embed="rId5"/>
          <a:srcRect l="8993" t="6750" r="8771" b="6407"/>
          <a:stretch>
            <a:fillRect/>
          </a:stretch>
        </p:blipFill>
        <p:spPr>
          <a:xfrm>
            <a:off x="11127740" y="0"/>
            <a:ext cx="1057275" cy="650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运营管理部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背景1"/>
          <p:cNvPicPr/>
          <p:nvPr userDrawn="1"/>
        </p:nvPicPr>
        <p:blipFill>
          <a:blip r:embed="rId4"/>
          <a:srcRect t="83519"/>
          <a:stretch>
            <a:fillRect/>
          </a:stretch>
        </p:blipFill>
        <p:spPr>
          <a:xfrm>
            <a:off x="-6350" y="5803265"/>
            <a:ext cx="12204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水电专业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信息部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背景1"/>
          <p:cNvPicPr/>
          <p:nvPr userDrawn="1"/>
        </p:nvPicPr>
        <p:blipFill>
          <a:blip r:embed="rId4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自动化部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电网技术部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背景1"/>
          <p:cNvPicPr/>
          <p:nvPr userDrawn="1"/>
        </p:nvPicPr>
        <p:blipFill>
          <a:blip r:embed="rId4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-6350" y="6388735"/>
            <a:ext cx="24091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电力调度中心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背景1"/>
          <p:cNvPicPr/>
          <p:nvPr userDrawn="1"/>
        </p:nvPicPr>
        <p:blipFill>
          <a:blip r:embed="rId3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-6350" y="6388735"/>
            <a:ext cx="24091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气体调度中心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9375" y="0"/>
            <a:ext cx="1717040" cy="699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 userDrawn="1"/>
        </p:nvSpPr>
        <p:spPr>
          <a:xfrm>
            <a:off x="27940" y="650776"/>
            <a:ext cx="12144375" cy="72000"/>
          </a:xfrm>
          <a:prstGeom prst="rect">
            <a:avLst/>
          </a:prstGeom>
          <a:gradFill>
            <a:gsLst>
              <a:gs pos="6000">
                <a:schemeClr val="accent3"/>
              </a:gs>
              <a:gs pos="35000">
                <a:srgbClr val="F0F0F0">
                  <a:lumMod val="0"/>
                  <a:lumOff val="100000"/>
                </a:srgbClr>
              </a:gs>
              <a:gs pos="100000">
                <a:srgbClr val="0131B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背景1"/>
          <p:cNvPicPr/>
          <p:nvPr userDrawn="1"/>
        </p:nvPicPr>
        <p:blipFill>
          <a:blip r:embed="rId4"/>
          <a:srcRect t="83519"/>
          <a:stretch>
            <a:fillRect/>
          </a:stretch>
        </p:blipFill>
        <p:spPr>
          <a:xfrm>
            <a:off x="-31115" y="5803265"/>
            <a:ext cx="12240000" cy="108013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19050" y="6363335"/>
            <a:ext cx="19392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电气运维部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42.xml"/><Relationship Id="rId27" Type="http://schemas.openxmlformats.org/officeDocument/2006/relationships/tags" Target="../tags/tag41.xml"/><Relationship Id="rId26" Type="http://schemas.openxmlformats.org/officeDocument/2006/relationships/tags" Target="../tags/tag40.xml"/><Relationship Id="rId25" Type="http://schemas.openxmlformats.org/officeDocument/2006/relationships/tags" Target="../tags/tag39.xml"/><Relationship Id="rId24" Type="http://schemas.openxmlformats.org/officeDocument/2006/relationships/tags" Target="../tags/tag38.xml"/><Relationship Id="rId23" Type="http://schemas.openxmlformats.org/officeDocument/2006/relationships/tags" Target="../tags/tag37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4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9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9375" y="0"/>
            <a:ext cx="2152015" cy="8083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" name="组合 11"/>
          <p:cNvGrpSpPr/>
          <p:nvPr/>
        </p:nvGrpSpPr>
        <p:grpSpPr>
          <a:xfrm>
            <a:off x="3761105" y="4079875"/>
            <a:ext cx="4669790" cy="2315210"/>
            <a:chOff x="5952" y="6298"/>
            <a:chExt cx="7354" cy="3646"/>
          </a:xfrm>
        </p:grpSpPr>
        <p:sp>
          <p:nvSpPr>
            <p:cNvPr id="9" name="对角圆角矩形 8"/>
            <p:cNvSpPr/>
            <p:nvPr/>
          </p:nvSpPr>
          <p:spPr>
            <a:xfrm flipH="1" flipV="1">
              <a:off x="7075" y="6611"/>
              <a:ext cx="5999" cy="862"/>
            </a:xfrm>
            <a:prstGeom prst="round2DiagRect">
              <a:avLst>
                <a:gd name="adj1" fmla="val 42977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对角圆角矩形 9"/>
            <p:cNvSpPr/>
            <p:nvPr/>
          </p:nvSpPr>
          <p:spPr>
            <a:xfrm flipH="1" flipV="1">
              <a:off x="6206" y="7825"/>
              <a:ext cx="6868" cy="798"/>
            </a:xfrm>
            <a:prstGeom prst="round2DiagRect">
              <a:avLst>
                <a:gd name="adj1" fmla="val 42977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对角圆角矩形 10"/>
            <p:cNvSpPr/>
            <p:nvPr/>
          </p:nvSpPr>
          <p:spPr>
            <a:xfrm flipH="1" flipV="1">
              <a:off x="7076" y="8976"/>
              <a:ext cx="5997" cy="752"/>
            </a:xfrm>
            <a:prstGeom prst="round2DiagRect">
              <a:avLst>
                <a:gd name="adj1" fmla="val 42977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汇报周期2"/>
            <p:cNvPicPr>
              <a:picLocks noChangeAspect="1"/>
            </p:cNvPicPr>
            <p:nvPr/>
          </p:nvPicPr>
          <p:blipFill>
            <a:blip r:embed="rId3"/>
            <a:srcRect t="7040" b="24942"/>
            <a:stretch>
              <a:fillRect/>
            </a:stretch>
          </p:blipFill>
          <p:spPr>
            <a:xfrm>
              <a:off x="5952" y="6298"/>
              <a:ext cx="7354" cy="3646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5881439" y="4412885"/>
            <a:ext cx="19685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2026.8.17</a:t>
            </a:r>
            <a:r>
              <a:rPr lang="en-US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-202</a:t>
            </a:r>
            <a:r>
              <a:rPr lang="en-US" alt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6.8.23</a:t>
            </a:r>
            <a:endParaRPr lang="zh-CN" sz="1800" b="1" i="0" u="none" strike="noStrike">
              <a:solidFill>
                <a:schemeClr val="tx1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601" y="5856726"/>
            <a:ext cx="1979669" cy="2768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 2026</a:t>
            </a:r>
            <a:r>
              <a:rPr 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年</a:t>
            </a:r>
            <a:r>
              <a:rPr lang="en-US" alt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08</a:t>
            </a:r>
            <a:r>
              <a:rPr 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月</a:t>
            </a:r>
            <a:r>
              <a:rPr lang="en-US" alt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21</a:t>
            </a:r>
            <a:r>
              <a:rPr lang="zh-CN" sz="1800" b="1" i="0" u="none" strike="noStrike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日</a:t>
            </a:r>
            <a:endParaRPr lang="zh-CN" sz="1800" b="1" i="0" u="none" strike="noStrike">
              <a:solidFill>
                <a:schemeClr val="tx1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13207" y="5160658"/>
            <a:ext cx="78930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b="1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周</a:t>
            </a:r>
            <a:r>
              <a:rPr lang="zh-CN" b="1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</a:rPr>
              <a:t> </a:t>
            </a:r>
            <a:r>
              <a:rPr lang="zh-CN" b="1">
                <a:solidFill>
                  <a:schemeClr val="tx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仕 超</a:t>
            </a:r>
            <a:endParaRPr lang="zh-CN" b="1">
              <a:solidFill>
                <a:schemeClr val="tx1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矩形 16" descr="7b0a2020202022776f7264617274223a2022220a7d0a"/>
          <p:cNvSpPr/>
          <p:nvPr>
            <p:custDataLst>
              <p:tags r:id="rId4"/>
            </p:custDataLst>
          </p:nvPr>
        </p:nvSpPr>
        <p:spPr>
          <a:xfrm>
            <a:off x="1661160" y="2200910"/>
            <a:ext cx="8580755" cy="1327785"/>
          </a:xfrm>
          <a:prstGeom prst="rect">
            <a:avLst/>
          </a:prstGeom>
          <a:noFill/>
        </p:spPr>
        <p:txBody>
          <a:bodyPr wrap="none" lIns="90170" tIns="46990" rIns="90170" bIns="46990" rtlCol="0" anchor="t"/>
          <a:lstStyle/>
          <a:p>
            <a:pPr algn="l"/>
            <a:r>
              <a:rPr lang="zh-CN" altLang="en-US" sz="7200" b="1">
                <a:ln w="25400">
                  <a:solidFill>
                    <a:srgbClr val="FFFFFF"/>
                  </a:solidFill>
                </a:ln>
                <a:solidFill>
                  <a:srgbClr val="1A77E6"/>
                </a:solidFill>
                <a:effectLst>
                  <a:outerShdw dist="50800" dir="5400000" algn="t" rotWithShape="0">
                    <a:srgbClr val="B7C3F2">
                      <a:alpha val="100000"/>
                    </a:srgbClr>
                  </a:outerShdw>
                </a:effectLst>
                <a:latin typeface="汉仪雅酷黑W" panose="00020600040101010101" charset="-122"/>
                <a:ea typeface="汉仪雅酷黑W" panose="00020600040101010101" charset="-122"/>
              </a:rPr>
              <a:t>四、物流系统</a:t>
            </a:r>
            <a:r>
              <a:rPr lang="zh-CN" altLang="en-US" sz="7200" b="1">
                <a:ln w="25400">
                  <a:solidFill>
                    <a:srgbClr val="FFFFFF"/>
                  </a:solidFill>
                </a:ln>
                <a:solidFill>
                  <a:srgbClr val="1A77E6"/>
                </a:solidFill>
                <a:effectLst>
                  <a:outerShdw dist="50800" dir="5400000" algn="t" rotWithShape="0">
                    <a:srgbClr val="B7C3F2">
                      <a:alpha val="100000"/>
                    </a:srgbClr>
                  </a:outerShdw>
                </a:effectLst>
                <a:latin typeface="汉仪雅酷黑W" panose="00020600040101010101" charset="-122"/>
                <a:ea typeface="汉仪雅酷黑W" panose="00020600040101010101" charset="-122"/>
              </a:rPr>
              <a:t>科工作汇报</a:t>
            </a:r>
            <a:endParaRPr lang="zh-CN" altLang="en-US" sz="7200" b="1">
              <a:ln w="25400">
                <a:solidFill>
                  <a:srgbClr val="FFFFFF"/>
                </a:solidFill>
              </a:ln>
              <a:solidFill>
                <a:srgbClr val="1A77E6"/>
              </a:solidFill>
              <a:effectLst>
                <a:outerShdw dist="50800" dir="5400000" algn="t" rotWithShape="0">
                  <a:srgbClr val="B7C3F2">
                    <a:alpha val="100000"/>
                  </a:srgbClr>
                </a:outerShdw>
              </a:effectLst>
              <a:latin typeface="汉仪雅酷黑W" panose="00020600040101010101" charset="-122"/>
              <a:ea typeface="汉仪雅酷黑W" panose="000206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76120" y="755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ym typeface="+mn-ea"/>
              </a:rPr>
              <a:t>指标分析</a:t>
            </a:r>
            <a:endParaRPr lang="zh-CN" altLang="en-US" sz="3200" b="1"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821690"/>
            <a:ext cx="1969135" cy="93281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821690"/>
            <a:ext cx="64008" cy="932688"/>
          </a:xfrm>
          <a:prstGeom prst="rect">
            <a:avLst/>
          </a:prstGeom>
          <a:solidFill>
            <a:srgbClr val="25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225" y="913130"/>
            <a:ext cx="14458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256EC7"/>
                </a:solidFill>
                <a:latin typeface="微软雅黑" charset="0"/>
              </a:rPr>
              <a:t>5</a:t>
            </a:r>
            <a:r>
              <a:rPr lang="en-US" altLang="zh-CN" sz="2800" b="1">
                <a:solidFill>
                  <a:srgbClr val="256EC7"/>
                </a:solidFill>
                <a:latin typeface="微软雅黑" charset="0"/>
                <a:cs typeface="Arial" panose="020B0604020202020204" pitchFamily="34" charset="0"/>
              </a:rPr>
              <a:t>4</a:t>
            </a:r>
            <a:r>
              <a:rPr sz="1200" b="1">
                <a:solidFill>
                  <a:srgbClr val="256EC7"/>
                </a:solidFill>
                <a:latin typeface="微软雅黑" panose="020B0503020204020204" charset="-122"/>
              </a:rPr>
              <a:t> 人天</a:t>
            </a:r>
            <a:endParaRPr sz="1200" b="1">
              <a:solidFill>
                <a:srgbClr val="256EC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388745"/>
            <a:ext cx="1230630" cy="2197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altLang="en-US" sz="1150" b="1">
                <a:solidFill>
                  <a:srgbClr val="222A35"/>
                </a:solidFill>
                <a:latin typeface="微软雅黑" panose="020B0503020204020204" charset="-122"/>
              </a:rPr>
              <a:t>本周</a:t>
            </a:r>
            <a:r>
              <a:rPr sz="1150" b="1">
                <a:solidFill>
                  <a:srgbClr val="222A35"/>
                </a:solidFill>
                <a:latin typeface="微软雅黑" panose="020B0503020204020204" charset="-122"/>
              </a:rPr>
              <a:t>开发投入</a:t>
            </a:r>
            <a:endParaRPr sz="11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571625"/>
            <a:ext cx="123126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3</a:t>
            </a:r>
            <a:r>
              <a:rPr lang="en-US" altLang="zh-CN"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6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项任务 · </a:t>
            </a:r>
            <a:r>
              <a:rPr sz="900">
                <a:solidFill>
                  <a:srgbClr val="5A6472"/>
                </a:solidFill>
                <a:latin typeface="微软雅黑" charset="0"/>
              </a:rPr>
              <a:t>9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 人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22930" y="840105"/>
            <a:ext cx="1741805" cy="93281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2803" y="840105"/>
            <a:ext cx="64008" cy="932688"/>
          </a:xfrm>
          <a:prstGeom prst="rect">
            <a:avLst/>
          </a:prstGeom>
          <a:solidFill>
            <a:srgbClr val="1B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7395" y="931545"/>
            <a:ext cx="101917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B9E9E"/>
                </a:solidFill>
                <a:latin typeface="微软雅黑" panose="020B0503020204020204" charset="-122"/>
              </a:rPr>
              <a:t> </a:t>
            </a:r>
            <a:r>
              <a:rPr lang="en-US" altLang="zh-CN" sz="2000" b="1">
                <a:solidFill>
                  <a:srgbClr val="1B9E9E"/>
                </a:solidFill>
                <a:latin typeface="微软雅黑" panose="020B0503020204020204" charset="-122"/>
                <a:cs typeface="Arial" panose="020B0604020202020204" pitchFamily="34" charset="0"/>
              </a:rPr>
              <a:t>2</a:t>
            </a:r>
            <a:r>
              <a:rPr lang="en-US" altLang="zh-CN" sz="2000" b="1">
                <a:solidFill>
                  <a:srgbClr val="1B9E9E"/>
                </a:solidFill>
                <a:latin typeface="微软雅黑" charset="0"/>
                <a:cs typeface="Arial" panose="020B0604020202020204" pitchFamily="34" charset="0"/>
              </a:rPr>
              <a:t>0</a:t>
            </a:r>
            <a:r>
              <a:rPr sz="1200" b="1">
                <a:solidFill>
                  <a:srgbClr val="1B9E9E"/>
                </a:solidFill>
                <a:latin typeface="微软雅黑" panose="020B0503020204020204" charset="-122"/>
              </a:rPr>
              <a:t>单</a:t>
            </a:r>
            <a:endParaRPr sz="1200" b="1">
              <a:solidFill>
                <a:srgbClr val="1B9E9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05810" y="1407160"/>
            <a:ext cx="946150" cy="2197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altLang="en-US" sz="1150" b="1">
                <a:solidFill>
                  <a:srgbClr val="222A35"/>
                </a:solidFill>
                <a:latin typeface="微软雅黑" panose="020B0503020204020204" charset="-122"/>
              </a:rPr>
              <a:t>本周</a:t>
            </a:r>
            <a:r>
              <a:rPr sz="1150" b="1">
                <a:solidFill>
                  <a:srgbClr val="222A35"/>
                </a:solidFill>
                <a:latin typeface="微软雅黑" panose="020B0503020204020204" charset="-122"/>
              </a:rPr>
              <a:t>运维总量</a:t>
            </a:r>
            <a:endParaRPr sz="11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05810" y="1626870"/>
            <a:ext cx="1000760" cy="1460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日均 </a:t>
            </a:r>
            <a:r>
              <a:rPr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3</a:t>
            </a:r>
            <a:r>
              <a:rPr lang="en-US" altLang="zh-CN"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.5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单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73370" y="840105"/>
            <a:ext cx="1652270" cy="93281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73116" y="840105"/>
            <a:ext cx="64008" cy="93268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7835" y="931545"/>
            <a:ext cx="129476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2E9E5B"/>
                </a:solidFill>
                <a:latin typeface="微软雅黑" panose="020B0503020204020204" charset="-122"/>
              </a:rPr>
              <a:t>100%</a:t>
            </a:r>
            <a:endParaRPr sz="2800" b="1">
              <a:solidFill>
                <a:srgbClr val="2E9E5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56250" y="1390015"/>
            <a:ext cx="1268095" cy="2368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1">
                <a:solidFill>
                  <a:srgbClr val="222A35"/>
                </a:solidFill>
                <a:latin typeface="微软雅黑" panose="020B0503020204020204" charset="-122"/>
              </a:rPr>
              <a:t>运维解决率</a:t>
            </a:r>
            <a:endParaRPr sz="11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56250" y="1608455"/>
            <a:ext cx="1268095" cy="1644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 单全部解决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92365" y="840105"/>
            <a:ext cx="1664970" cy="93281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2618" y="840105"/>
            <a:ext cx="64008" cy="932688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7465" y="931545"/>
            <a:ext cx="123190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08A24"/>
                </a:solidFill>
                <a:latin typeface="微软雅黑" charset="0"/>
              </a:rPr>
              <a:t>6</a:t>
            </a:r>
            <a:r>
              <a:rPr sz="1200" b="1">
                <a:solidFill>
                  <a:srgbClr val="F08A24"/>
                </a:solidFill>
                <a:latin typeface="微软雅黑" panose="020B0503020204020204" charset="-122"/>
              </a:rPr>
              <a:t>分钟</a:t>
            </a:r>
            <a:endParaRPr sz="1200" b="1">
              <a:solidFill>
                <a:srgbClr val="F08A24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75245" y="1390015"/>
            <a:ext cx="1214120" cy="2368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1">
                <a:solidFill>
                  <a:srgbClr val="222A35"/>
                </a:solidFill>
                <a:latin typeface="微软雅黑" panose="020B0503020204020204" charset="-122"/>
              </a:rPr>
              <a:t>平均处理时长</a:t>
            </a:r>
            <a:endParaRPr sz="11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75245" y="1608455"/>
            <a:ext cx="1214120" cy="1644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累计 </a:t>
            </a:r>
            <a:r>
              <a:rPr sz="900">
                <a:solidFill>
                  <a:srgbClr val="5A6472"/>
                </a:solidFill>
                <a:latin typeface="微软雅黑" charset="0"/>
              </a:rPr>
              <a:t>2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 小时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1964690"/>
            <a:ext cx="5623560" cy="299923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09270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 panose="020B0503020204020204" charset="-122"/>
              </a:rPr>
              <a:t>开发人天分布（按系统）</a:t>
            </a:r>
            <a:endParaRPr sz="1400" b="1">
              <a:solidFill>
                <a:srgbClr val="1B2A4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2120138"/>
            <a:ext cx="123444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合计</a:t>
            </a:r>
            <a:r>
              <a:rPr sz="950">
                <a:solidFill>
                  <a:srgbClr val="5A6472"/>
                </a:solidFill>
                <a:latin typeface="微软雅黑" charset="0"/>
              </a:rPr>
              <a:t>5</a:t>
            </a:r>
            <a:r>
              <a:rPr lang="en-US" altLang="zh-CN" sz="950">
                <a:solidFill>
                  <a:srgbClr val="5A6472"/>
                </a:solidFill>
                <a:latin typeface="微软雅黑" charset="0"/>
              </a:rPr>
              <a:t>4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 人天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" y="2531618"/>
            <a:ext cx="1554480" cy="161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1">
                <a:solidFill>
                  <a:srgbClr val="222A35"/>
                </a:solidFill>
                <a:latin typeface="微软雅黑" panose="020B0503020204020204" charset="-122"/>
              </a:rPr>
              <a:t>智慧物流</a:t>
            </a:r>
            <a:endParaRPr lang="zh-CN" sz="10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167128" y="2513330"/>
            <a:ext cx="2697480" cy="25603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67128" y="2513330"/>
            <a:ext cx="2697480" cy="256032"/>
          </a:xfrm>
          <a:prstGeom prst="roundRect">
            <a:avLst>
              <a:gd name="adj" fmla="val 6000"/>
            </a:avLst>
          </a:prstGeom>
          <a:solidFill>
            <a:srgbClr val="25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74336" y="2531618"/>
            <a:ext cx="100584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256EC7"/>
                </a:solidFill>
                <a:latin typeface="微软雅黑" charset="0"/>
                <a:cs typeface="Arial" panose="020B0604020202020204" pitchFamily="34" charset="0"/>
              </a:rPr>
              <a:t>4</a:t>
            </a:r>
            <a:r>
              <a:rPr lang="en-US" altLang="zh-CN" sz="950" b="1">
                <a:solidFill>
                  <a:srgbClr val="256EC7"/>
                </a:solidFill>
                <a:latin typeface="微软雅黑" charset="0"/>
                <a:cs typeface="Arial" panose="020B0604020202020204" pitchFamily="34" charset="0"/>
              </a:rPr>
              <a:t>2</a:t>
            </a:r>
            <a:r>
              <a:rPr sz="950" b="1">
                <a:solidFill>
                  <a:srgbClr val="256EC7"/>
                </a:solidFill>
                <a:latin typeface="微软雅黑" panose="020B0503020204020204" charset="-122"/>
              </a:rPr>
              <a:t>人天 · </a:t>
            </a:r>
            <a:r>
              <a:rPr sz="950" b="1">
                <a:solidFill>
                  <a:srgbClr val="256EC7"/>
                </a:solidFill>
                <a:latin typeface="微软雅黑" charset="0"/>
              </a:rPr>
              <a:t>7</a:t>
            </a:r>
            <a:r>
              <a:rPr lang="en-US" altLang="zh-CN" sz="950" b="1">
                <a:solidFill>
                  <a:srgbClr val="256EC7"/>
                </a:solidFill>
                <a:latin typeface="微软雅黑" charset="0"/>
              </a:rPr>
              <a:t>8</a:t>
            </a:r>
            <a:r>
              <a:rPr sz="950" b="1">
                <a:solidFill>
                  <a:srgbClr val="256EC7"/>
                </a:solidFill>
                <a:latin typeface="微软雅黑" panose="020B0503020204020204" charset="-122"/>
              </a:rPr>
              <a:t>%</a:t>
            </a:r>
            <a:endParaRPr sz="950" b="1">
              <a:solidFill>
                <a:srgbClr val="256EC7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2970530"/>
            <a:ext cx="1554480" cy="161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0">
                <a:solidFill>
                  <a:srgbClr val="222A35"/>
                </a:solidFill>
                <a:latin typeface="微软雅黑" panose="020B0503020204020204" charset="-122"/>
              </a:rPr>
              <a:t>晨曦计量</a:t>
            </a:r>
            <a:endParaRPr lang="zh-CN" sz="10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167128" y="2952242"/>
            <a:ext cx="2697480" cy="25603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67128" y="2952242"/>
            <a:ext cx="842962" cy="256032"/>
          </a:xfrm>
          <a:prstGeom prst="roundRect">
            <a:avLst>
              <a:gd name="adj" fmla="val 6000"/>
            </a:avLst>
          </a:prstGeom>
          <a:solidFill>
            <a:srgbClr val="7FA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2970530"/>
            <a:ext cx="100584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1</a:t>
            </a:r>
            <a:r>
              <a:rPr lang="en-US" altLang="zh-CN" sz="95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2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人天 · </a:t>
            </a:r>
            <a:r>
              <a:rPr sz="950">
                <a:solidFill>
                  <a:srgbClr val="5A6472"/>
                </a:solidFill>
                <a:latin typeface="微软雅黑" charset="0"/>
              </a:rPr>
              <a:t>2</a:t>
            </a:r>
            <a:r>
              <a:rPr lang="en-US" altLang="zh-CN" sz="950">
                <a:solidFill>
                  <a:srgbClr val="5A6472"/>
                </a:solidFill>
                <a:latin typeface="微软雅黑" charset="0"/>
              </a:rPr>
              <a:t>2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" y="3409442"/>
            <a:ext cx="1554480" cy="161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0">
                <a:solidFill>
                  <a:srgbClr val="222A35"/>
                </a:solidFill>
                <a:latin typeface="微软雅黑" panose="020B0503020204020204" charset="-122"/>
              </a:rPr>
              <a:t>设备管理</a:t>
            </a:r>
            <a:endParaRPr lang="zh-CN" sz="10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167128" y="3391153"/>
            <a:ext cx="2697480" cy="25603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74336" y="3409442"/>
            <a:ext cx="100584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50" b="0">
                <a:solidFill>
                  <a:srgbClr val="5A6472"/>
                </a:solidFill>
                <a:latin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人天 · </a:t>
            </a:r>
            <a:r>
              <a:rPr sz="950">
                <a:solidFill>
                  <a:srgbClr val="5A6472"/>
                </a:solidFill>
                <a:latin typeface="微软雅黑" charset="0"/>
              </a:rPr>
              <a:t>0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126480" y="1964690"/>
            <a:ext cx="5605272" cy="299923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209270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 panose="020B0503020204020204" charset="-122"/>
              </a:rPr>
              <a:t>运维工单结构</a:t>
            </a:r>
            <a:endParaRPr sz="1400" b="1">
              <a:solidFill>
                <a:srgbClr val="1B2A4A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41280" y="2120138"/>
            <a:ext cx="128016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合计 单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327648" y="242189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472"/>
                </a:solidFill>
                <a:latin typeface="微软雅黑" panose="020B0503020204020204" charset="-122"/>
              </a:rPr>
              <a:t>按系统</a:t>
            </a:r>
            <a:endParaRPr sz="1000" b="1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27775" y="2677795"/>
            <a:ext cx="960120" cy="2197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222A35"/>
                </a:solidFill>
                <a:latin typeface="微软雅黑" charset="0"/>
              </a:rPr>
              <a:t>计量</a:t>
            </a:r>
            <a:endParaRPr lang="zh-CN"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333488" y="2705354"/>
            <a:ext cx="1005840" cy="16459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33488" y="2705346"/>
            <a:ext cx="572312" cy="192135"/>
          </a:xfrm>
          <a:prstGeom prst="roundRect">
            <a:avLst>
              <a:gd name="adj" fmla="val 6000"/>
            </a:avLst>
          </a:prstGeom>
          <a:solidFill>
            <a:srgbClr val="1B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85063" y="2705352"/>
            <a:ext cx="86868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 </a:t>
            </a:r>
            <a:r>
              <a:rPr lang="en-US" altLang="zh-CN" sz="900" b="0">
                <a:solidFill>
                  <a:srgbClr val="5A6472"/>
                </a:solidFill>
                <a:latin typeface="微软雅黑" panose="020B0503020204020204" charset="-122"/>
                <a:cs typeface="Arial" panose="020B0604020202020204" pitchFamily="34" charset="0"/>
              </a:rPr>
              <a:t>4</a:t>
            </a:r>
            <a:r>
              <a:rPr lang="en-US" altLang="zh-CN"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5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27648" y="3007106"/>
            <a:ext cx="96012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50">
                <a:solidFill>
                  <a:srgbClr val="222A35"/>
                </a:solidFill>
                <a:latin typeface="微软雅黑" charset="0"/>
              </a:rPr>
              <a:t>车联网</a:t>
            </a:r>
            <a:endParaRPr lang="zh-CN">
              <a:latin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333488" y="3034538"/>
            <a:ext cx="1005840" cy="16459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007106"/>
            <a:ext cx="86868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>
                <a:solidFill>
                  <a:srgbClr val="5A6472"/>
                </a:solidFill>
                <a:latin typeface="微软雅黑" charset="0"/>
                <a:cs typeface="Arial" panose="020B0604020202020204" pitchFamily="34" charset="0"/>
              </a:rPr>
              <a:t>15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327648" y="3336290"/>
            <a:ext cx="96012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950">
                <a:solidFill>
                  <a:srgbClr val="222A35"/>
                </a:solidFill>
                <a:latin typeface="微软雅黑" panose="020B0503020204020204" charset="-122"/>
                <a:cs typeface="Arial" panose="020B0604020202020204" pitchFamily="34" charset="0"/>
              </a:rPr>
              <a:t>汽修系统</a:t>
            </a:r>
            <a:endParaRPr lang="zh-CN"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333488" y="3363722"/>
            <a:ext cx="1005840" cy="16459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33488" y="3363722"/>
            <a:ext cx="341723" cy="191789"/>
          </a:xfrm>
          <a:prstGeom prst="roundRect">
            <a:avLst>
              <a:gd name="adj" fmla="val 6000"/>
            </a:avLst>
          </a:prstGeom>
          <a:solidFill>
            <a:srgbClr val="1B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0" y="3336290"/>
            <a:ext cx="86868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 </a:t>
            </a:r>
            <a:r>
              <a:rPr lang="en-US" altLang="zh-CN" sz="900" b="0">
                <a:solidFill>
                  <a:srgbClr val="5A6472"/>
                </a:solidFill>
                <a:latin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en-US" altLang="zh-CN" sz="900" b="0">
                <a:solidFill>
                  <a:srgbClr val="5A6472"/>
                </a:solidFill>
                <a:latin typeface="微软雅黑" panose="020B0503020204020204" charset="-122"/>
              </a:rPr>
              <a:t>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327648" y="3665474"/>
            <a:ext cx="96012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222A35"/>
                </a:solidFill>
                <a:latin typeface="微软雅黑" charset="0"/>
              </a:rPr>
              <a:t>设备</a:t>
            </a:r>
            <a:r>
              <a:rPr lang="zh-CN" altLang="en-US" sz="950">
                <a:solidFill>
                  <a:srgbClr val="222A35"/>
                </a:solidFill>
                <a:latin typeface="微软雅黑" charset="0"/>
                <a:cs typeface="Arial" panose="020B0604020202020204" pitchFamily="34" charset="0"/>
              </a:rPr>
              <a:t>管理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253728" y="2403602"/>
            <a:ext cx="10972" cy="21031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242189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A6472"/>
                </a:solidFill>
                <a:latin typeface="微软雅黑" panose="020B0503020204020204" charset="-122"/>
              </a:rPr>
              <a:t>按故障类型</a:t>
            </a:r>
            <a:endParaRPr sz="1000" b="1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418320" y="2668778"/>
            <a:ext cx="960120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950">
                <a:solidFill>
                  <a:srgbClr val="222A35"/>
                </a:solidFill>
                <a:latin typeface="微软雅黑" panose="020B0503020204020204" charset="-122"/>
              </a:rPr>
              <a:t>系统</a:t>
            </a:r>
            <a:r>
              <a:rPr sz="950" b="0">
                <a:solidFill>
                  <a:srgbClr val="222A35"/>
                </a:solidFill>
                <a:latin typeface="微软雅黑" panose="020B0503020204020204" charset="-122"/>
              </a:rPr>
              <a:t>维护</a:t>
            </a:r>
            <a:endParaRPr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10405872" y="2705354"/>
            <a:ext cx="868680" cy="1371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405872" y="2705354"/>
            <a:ext cx="390407" cy="138451"/>
          </a:xfrm>
          <a:prstGeom prst="roundRect">
            <a:avLst>
              <a:gd name="adj" fmla="val 6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338560" y="2668778"/>
            <a:ext cx="68580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>
                <a:solidFill>
                  <a:srgbClr val="5A6472"/>
                </a:solidFill>
                <a:latin typeface="微软雅黑" panose="020B0503020204020204" charset="-122"/>
              </a:rPr>
              <a:t>40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418320" y="294309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微软雅黑" panose="020B0503020204020204" charset="-122"/>
              </a:rPr>
              <a:t>问题咨询</a:t>
            </a:r>
            <a:endParaRPr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10405872" y="2979673"/>
            <a:ext cx="868680" cy="1371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0405872" y="2979673"/>
            <a:ext cx="236965" cy="136868"/>
          </a:xfrm>
          <a:prstGeom prst="roundRect">
            <a:avLst>
              <a:gd name="adj" fmla="val 6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338560" y="2943098"/>
            <a:ext cx="68580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 b="0">
                <a:solidFill>
                  <a:srgbClr val="5A6472"/>
                </a:solidFill>
                <a:latin typeface="微软雅黑" panose="020B0503020204020204" charset="-122"/>
              </a:rPr>
              <a:t>30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418320" y="321741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微软雅黑" panose="020B0503020204020204" charset="-122"/>
              </a:rPr>
              <a:t>流程优化</a:t>
            </a:r>
            <a:endParaRPr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10405872" y="3253994"/>
            <a:ext cx="868680" cy="1371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405872" y="3253994"/>
            <a:ext cx="54864" cy="137160"/>
          </a:xfrm>
          <a:prstGeom prst="roundRect">
            <a:avLst>
              <a:gd name="adj" fmla="val 6000"/>
            </a:avLst>
          </a:prstGeom>
          <a:solidFill>
            <a:srgbClr val="F3C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338560" y="3217418"/>
            <a:ext cx="68580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>
                <a:solidFill>
                  <a:srgbClr val="5A6472"/>
                </a:solidFill>
                <a:latin typeface="微软雅黑" panose="020B0503020204020204" charset="-122"/>
              </a:rPr>
              <a:t>20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418320" y="349173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微软雅黑" panose="020B0503020204020204" charset="-122"/>
              </a:rPr>
              <a:t>误操作纠正</a:t>
            </a:r>
            <a:endParaRPr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10405872" y="3528314"/>
            <a:ext cx="868680" cy="1371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405872" y="3528314"/>
            <a:ext cx="54864" cy="137160"/>
          </a:xfrm>
          <a:prstGeom prst="roundRect">
            <a:avLst>
              <a:gd name="adj" fmla="val 6000"/>
            </a:avLst>
          </a:prstGeom>
          <a:solidFill>
            <a:srgbClr val="F3C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38560" y="3491738"/>
            <a:ext cx="68580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>
                <a:solidFill>
                  <a:srgbClr val="5A6472"/>
                </a:solidFill>
                <a:latin typeface="微软雅黑" panose="020B0503020204020204" charset="-122"/>
              </a:rPr>
              <a:t>10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18320" y="376605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微软雅黑" panose="020B0503020204020204" charset="-122"/>
              </a:rPr>
              <a:t>系统故障</a:t>
            </a:r>
            <a:endParaRPr sz="950" b="0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0405872" y="3802634"/>
            <a:ext cx="868680" cy="1371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405872" y="3802634"/>
            <a:ext cx="9255" cy="137118"/>
          </a:xfrm>
          <a:prstGeom prst="roundRect">
            <a:avLst>
              <a:gd name="adj" fmla="val 6000"/>
            </a:avLst>
          </a:prstGeom>
          <a:solidFill>
            <a:srgbClr val="F3C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338560" y="3766058"/>
            <a:ext cx="68580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0</a:t>
            </a:r>
            <a:r>
              <a:rPr lang="en-US" altLang="zh-CN" sz="900" b="0">
                <a:solidFill>
                  <a:srgbClr val="5A6472"/>
                </a:solidFill>
                <a:latin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27648" y="4305554"/>
            <a:ext cx="5193792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技术支持占 </a:t>
            </a:r>
            <a:r>
              <a:rPr lang="en-US" altLang="zh-CN" sz="950" b="0">
                <a:solidFill>
                  <a:srgbClr val="5A6472"/>
                </a:solidFill>
                <a:latin typeface="微软雅黑" panose="020B0503020204020204" charset="-122"/>
              </a:rPr>
              <a:t>90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%，真正系统故障仅 </a:t>
            </a:r>
            <a:r>
              <a:rPr sz="950">
                <a:solidFill>
                  <a:srgbClr val="5A6472"/>
                </a:solidFill>
                <a:latin typeface="微软雅黑" charset="0"/>
              </a:rPr>
              <a:t>1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 单；反馈渠道：微信 </a:t>
            </a:r>
            <a:r>
              <a:rPr lang="en-US" altLang="zh-CN" sz="950" b="0">
                <a:solidFill>
                  <a:srgbClr val="5A6472"/>
                </a:solidFill>
                <a:latin typeface="微软雅黑" panose="020B0503020204020204" charset="-122"/>
              </a:rPr>
              <a:t>10</a:t>
            </a:r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0%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327606" y="4506717"/>
            <a:ext cx="5193792" cy="146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A6472"/>
                </a:solidFill>
                <a:latin typeface="微软雅黑" panose="020B0503020204020204" charset="-122"/>
              </a:rPr>
              <a:t>主力运维：</a:t>
            </a:r>
            <a:r>
              <a:rPr lang="zh-CN" altLang="en-US" sz="950" b="0">
                <a:solidFill>
                  <a:srgbClr val="5A6472"/>
                </a:solidFill>
                <a:latin typeface="微软雅黑" panose="020B0503020204020204" charset="-122"/>
              </a:rPr>
              <a:t>计量运维工单数</a:t>
            </a:r>
            <a:r>
              <a:rPr lang="zh-CN" altLang="en-US" sz="950">
                <a:solidFill>
                  <a:srgbClr val="5A6472"/>
                </a:solidFill>
                <a:latin typeface="微软雅黑" charset="0"/>
              </a:rPr>
              <a:t>9</a:t>
            </a:r>
            <a:r>
              <a:rPr lang="zh-CN" altLang="en-US" sz="950" b="0">
                <a:solidFill>
                  <a:srgbClr val="5A6472"/>
                </a:solidFill>
                <a:latin typeface="微软雅黑" panose="020B0503020204020204" charset="-122"/>
              </a:rPr>
              <a:t>；汽修系统工单数</a:t>
            </a:r>
            <a:r>
              <a:rPr lang="zh-CN" altLang="en-US" sz="950">
                <a:solidFill>
                  <a:srgbClr val="5A6472"/>
                </a:solidFill>
                <a:latin typeface="微软雅黑" charset="0"/>
              </a:rPr>
              <a:t>6</a:t>
            </a:r>
            <a:r>
              <a:rPr lang="zh-CN" altLang="en-US" sz="950" b="0">
                <a:solidFill>
                  <a:srgbClr val="5A6472"/>
                </a:solidFill>
                <a:latin typeface="微软雅黑" panose="020B0503020204020204" charset="-122"/>
              </a:rPr>
              <a:t>：；车联网工单数：</a:t>
            </a:r>
            <a:r>
              <a:rPr lang="zh-CN" altLang="en-US" sz="950">
                <a:solidFill>
                  <a:srgbClr val="5A6472"/>
                </a:solidFill>
                <a:latin typeface="微软雅黑" charset="0"/>
              </a:rPr>
              <a:t>3</a:t>
            </a:r>
            <a:r>
              <a:rPr lang="zh-CN" altLang="en-US" sz="950" b="0">
                <a:solidFill>
                  <a:srgbClr val="5A6472"/>
                </a:solidFill>
                <a:latin typeface="微软雅黑" panose="020B0503020204020204" charset="-122"/>
              </a:rPr>
              <a:t>；设备管理工单数：</a:t>
            </a:r>
            <a:r>
              <a:rPr lang="zh-CN" altLang="en-US" sz="950">
                <a:solidFill>
                  <a:srgbClr val="5A6472"/>
                </a:solidFill>
                <a:latin typeface="微软雅黑" charset="0"/>
              </a:rPr>
              <a:t>2</a:t>
            </a:r>
            <a:r>
              <a:rPr lang="zh-CN" altLang="en-US" sz="950" b="0">
                <a:solidFill>
                  <a:srgbClr val="5A6472"/>
                </a:solidFill>
                <a:latin typeface="微软雅黑" panose="020B0503020204020204" charset="-122"/>
              </a:rPr>
              <a:t>。</a:t>
            </a:r>
            <a:endParaRPr sz="95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65760" y="5101082"/>
            <a:ext cx="11375136" cy="1115568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360" y="521995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08A24"/>
                </a:solidFill>
                <a:latin typeface="微软雅黑" panose="020B0503020204020204" charset="-122"/>
              </a:rPr>
              <a:t>核心结论</a:t>
            </a:r>
            <a:endParaRPr sz="1400" b="1">
              <a:solidFill>
                <a:srgbClr val="F08A24"/>
              </a:solidFill>
              <a:latin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94360" y="5521706"/>
            <a:ext cx="6694805" cy="161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F08A24"/>
                </a:solidFill>
                <a:latin typeface="微软雅黑" panose="020B0503020204020204" charset="-122"/>
              </a:rPr>
              <a:t>①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</a:rPr>
              <a:t>智慧物流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 仍为开发重心：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</a:rPr>
              <a:t>42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人天占 </a:t>
            </a:r>
            <a:r>
              <a:rPr sz="1050">
                <a:solidFill>
                  <a:srgbClr val="FFFFFF"/>
                </a:solidFill>
                <a:latin typeface="微软雅黑" charset="0"/>
              </a:rPr>
              <a:t>7</a:t>
            </a:r>
            <a:r>
              <a:rPr lang="en-US" altLang="zh-CN" sz="1050">
                <a:solidFill>
                  <a:srgbClr val="FFFFFF"/>
                </a:solidFill>
                <a:latin typeface="微软雅黑" charset="0"/>
              </a:rPr>
              <a:t>8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%，7 人全员投入，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</a:rPr>
              <a:t>MMS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</a:rPr>
              <a:t>TOS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</a:rPr>
              <a:t>VMS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模块功能开发、验收及功能迭代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4360" y="5745734"/>
            <a:ext cx="5393690" cy="161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F08A24"/>
                </a:solidFill>
                <a:latin typeface="微软雅黑" panose="020B0503020204020204" charset="-122"/>
              </a:rPr>
              <a:t>② 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本周共运维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</a:rPr>
              <a:t>XX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单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，问题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全部解决（100%），平均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处理时间</a:t>
            </a:r>
            <a:r>
              <a:rPr lang="zh-CN" altLang="en-US" sz="1050">
                <a:solidFill>
                  <a:srgbClr val="FFFFFF"/>
                </a:solidFill>
                <a:latin typeface="微软雅黑" charset="0"/>
              </a:rPr>
              <a:t>6</a:t>
            </a:r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分钟/单，服务响应高效稳定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94382" y="5971725"/>
            <a:ext cx="3067685" cy="161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08A24"/>
                </a:solidFill>
                <a:latin typeface="微软雅黑" panose="020B0503020204020204" charset="-122"/>
              </a:rPr>
              <a:t>③ 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计量</a:t>
            </a:r>
            <a:r>
              <a:rPr lang="zh-CN" altLang="en-US" sz="1050">
                <a:solidFill>
                  <a:srgbClr val="FFFFFF"/>
                </a:solidFill>
                <a:latin typeface="微软雅黑" charset="0"/>
              </a:rPr>
              <a:t>运维9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</a:rPr>
              <a:t>单：大部分问题出在功能更新迭代方面</a:t>
            </a:r>
            <a:endParaRPr lang="zh-CN" altLang="en-US"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9609455" y="821690"/>
            <a:ext cx="1652270" cy="93281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18"/>
          <p:cNvSpPr/>
          <p:nvPr/>
        </p:nvSpPr>
        <p:spPr>
          <a:xfrm>
            <a:off x="9609201" y="821690"/>
            <a:ext cx="64008" cy="93268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9"/>
          <p:cNvSpPr txBox="1"/>
          <p:nvPr/>
        </p:nvSpPr>
        <p:spPr>
          <a:xfrm>
            <a:off x="9773920" y="913130"/>
            <a:ext cx="150050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微软雅黑" panose="020B0503020204020204" charset="-122"/>
              </a:rPr>
              <a:t>99.94</a:t>
            </a:r>
            <a:r>
              <a:rPr sz="2800" b="1">
                <a:solidFill>
                  <a:srgbClr val="FF0000"/>
                </a:solidFill>
                <a:latin typeface="微软雅黑" panose="020B0503020204020204" charset="-122"/>
              </a:rPr>
              <a:t>%</a:t>
            </a:r>
            <a:endParaRPr sz="28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01" name="TextBox 20"/>
          <p:cNvSpPr txBox="1"/>
          <p:nvPr/>
        </p:nvSpPr>
        <p:spPr>
          <a:xfrm>
            <a:off x="9792335" y="1371600"/>
            <a:ext cx="1268095" cy="2368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222A35"/>
                </a:solidFill>
                <a:latin typeface="微软雅黑" panose="020B0503020204020204" charset="-122"/>
              </a:rPr>
              <a:t>系统在线</a:t>
            </a:r>
            <a:r>
              <a:rPr lang="zh-CN" sz="1150" b="1">
                <a:solidFill>
                  <a:srgbClr val="222A35"/>
                </a:solidFill>
                <a:latin typeface="微软雅黑" panose="020B0503020204020204" charset="-122"/>
              </a:rPr>
              <a:t>率</a:t>
            </a:r>
            <a:endParaRPr lang="zh-CN" sz="1150" b="1">
              <a:solidFill>
                <a:srgbClr val="222A35"/>
              </a:solidFill>
              <a:latin typeface="微软雅黑" panose="020B0503020204020204" charset="-122"/>
            </a:endParaRPr>
          </a:p>
        </p:txBody>
      </p:sp>
      <p:sp>
        <p:nvSpPr>
          <p:cNvPr id="102" name="TextBox 21"/>
          <p:cNvSpPr txBox="1"/>
          <p:nvPr/>
        </p:nvSpPr>
        <p:spPr>
          <a:xfrm>
            <a:off x="9792335" y="1590040"/>
            <a:ext cx="1268095" cy="1644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900" b="0">
                <a:solidFill>
                  <a:srgbClr val="5A6472"/>
                </a:solidFill>
                <a:latin typeface="微软雅黑" panose="020B0503020204020204" charset="-122"/>
              </a:rPr>
              <a:t>主要是运维停机</a:t>
            </a:r>
            <a:r>
              <a:rPr lang="zh-CN" sz="900" b="0">
                <a:solidFill>
                  <a:srgbClr val="5A6472"/>
                </a:solidFill>
                <a:latin typeface="微软雅黑" panose="020B0503020204020204" charset="-122"/>
              </a:rPr>
              <a:t>时间</a:t>
            </a:r>
            <a:endParaRPr lang="zh-CN"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60"/>
          <p:cNvSpPr/>
          <p:nvPr/>
        </p:nvSpPr>
        <p:spPr>
          <a:xfrm>
            <a:off x="7333446" y="3674602"/>
            <a:ext cx="1005840" cy="164592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62"/>
          <p:cNvSpPr txBox="1"/>
          <p:nvPr/>
        </p:nvSpPr>
        <p:spPr>
          <a:xfrm>
            <a:off x="8412438" y="3647170"/>
            <a:ext cx="868680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900">
                <a:solidFill>
                  <a:srgbClr val="5A6472"/>
                </a:solidFill>
                <a:latin typeface="微软雅黑" panose="020B0503020204020204" charset="-122"/>
              </a:rPr>
              <a:t>10</a:t>
            </a:r>
            <a:r>
              <a:rPr sz="900" b="0">
                <a:solidFill>
                  <a:srgbClr val="5A6472"/>
                </a:solidFill>
                <a:latin typeface="微软雅黑" panose="020B0503020204020204" charset="-122"/>
              </a:rPr>
              <a:t>%</a:t>
            </a:r>
            <a:endParaRPr sz="900" b="0">
              <a:solidFill>
                <a:srgbClr val="5A6472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57"/>
          <p:cNvSpPr/>
          <p:nvPr/>
        </p:nvSpPr>
        <p:spPr>
          <a:xfrm>
            <a:off x="7333484" y="3034564"/>
            <a:ext cx="223109" cy="192135"/>
          </a:xfrm>
          <a:prstGeom prst="roundRect">
            <a:avLst>
              <a:gd name="adj" fmla="val 6000"/>
            </a:avLst>
          </a:prstGeom>
          <a:solidFill>
            <a:srgbClr val="1B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57"/>
          <p:cNvSpPr/>
          <p:nvPr/>
        </p:nvSpPr>
        <p:spPr>
          <a:xfrm>
            <a:off x="7333484" y="3647170"/>
            <a:ext cx="158840" cy="188063"/>
          </a:xfrm>
          <a:prstGeom prst="roundRect">
            <a:avLst>
              <a:gd name="adj" fmla="val 6000"/>
            </a:avLst>
          </a:prstGeom>
          <a:solidFill>
            <a:srgbClr val="1B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>
            <a:off x="6985" y="710565"/>
            <a:ext cx="12185015" cy="6032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89" h="8021">
                <a:moveTo>
                  <a:pt x="0" y="0"/>
                </a:moveTo>
                <a:lnTo>
                  <a:pt x="19189" y="0"/>
                </a:lnTo>
                <a:lnTo>
                  <a:pt x="19189" y="6581"/>
                </a:lnTo>
                <a:lnTo>
                  <a:pt x="19161" y="6592"/>
                </a:lnTo>
                <a:cubicBezTo>
                  <a:pt x="17400" y="7277"/>
                  <a:pt x="12499" y="8009"/>
                  <a:pt x="9802" y="8021"/>
                </a:cubicBezTo>
                <a:lnTo>
                  <a:pt x="9736" y="8021"/>
                </a:lnTo>
                <a:lnTo>
                  <a:pt x="9736" y="8021"/>
                </a:lnTo>
                <a:lnTo>
                  <a:pt x="9671" y="8021"/>
                </a:lnTo>
                <a:cubicBezTo>
                  <a:pt x="9584" y="8020"/>
                  <a:pt x="9500" y="8019"/>
                  <a:pt x="9418" y="8017"/>
                </a:cubicBezTo>
                <a:cubicBezTo>
                  <a:pt x="5980" y="7931"/>
                  <a:pt x="1602" y="7279"/>
                  <a:pt x="15" y="6612"/>
                </a:cubicBezTo>
                <a:lnTo>
                  <a:pt x="0" y="6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75995" y="2507615"/>
            <a:ext cx="2762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>
                <a:solidFill>
                  <a:srgbClr val="0070C0"/>
                </a:solidFill>
                <a:effectLst>
                  <a:outerShdw dist="38100" dir="5400000" sx="104000" sy="104000" algn="t" rotWithShape="0">
                    <a:srgbClr val="FFFFFF">
                      <a:alpha val="100000"/>
                    </a:srgbClr>
                  </a:outerShdw>
                </a:effectLst>
              </a:rPr>
              <a:t>目录</a:t>
            </a:r>
            <a:endParaRPr lang="zh-CN" altLang="en-US" sz="8000" b="1">
              <a:solidFill>
                <a:srgbClr val="0070C0"/>
              </a:solidFill>
              <a:effectLst>
                <a:outerShdw dist="38100" dir="5400000" sx="104000" sy="104000" algn="t" rotWithShape="0">
                  <a:srgbClr val="FFFFFF">
                    <a:alpha val="100000"/>
                  </a:srgbClr>
                </a:outerShdw>
              </a:effectLst>
            </a:endParaRPr>
          </a:p>
        </p:txBody>
      </p:sp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558665" y="1689100"/>
            <a:ext cx="4637405" cy="4075430"/>
            <a:chOff x="6690" y="1757"/>
            <a:chExt cx="7303" cy="6258"/>
          </a:xfrm>
        </p:grpSpPr>
        <p:sp>
          <p:nvSpPr>
            <p:cNvPr id="8" name="圆角矩形 7"/>
            <p:cNvSpPr/>
            <p:nvPr>
              <p:custDataLst>
                <p:tags r:id="rId3"/>
              </p:custDataLst>
            </p:nvPr>
          </p:nvSpPr>
          <p:spPr>
            <a:xfrm>
              <a:off x="6690" y="1757"/>
              <a:ext cx="7303" cy="1088"/>
            </a:xfrm>
            <a:prstGeom prst="roundRect">
              <a:avLst>
                <a:gd name="adj" fmla="val 33537"/>
              </a:avLst>
            </a:prstGeom>
            <a:solidFill>
              <a:schemeClr val="bg1">
                <a:alpha val="100000"/>
              </a:schemeClr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6690" y="3102"/>
              <a:ext cx="7303" cy="1088"/>
            </a:xfrm>
            <a:prstGeom prst="roundRect">
              <a:avLst>
                <a:gd name="adj" fmla="val 33537"/>
              </a:avLst>
            </a:prstGeom>
            <a:solidFill>
              <a:schemeClr val="bg1">
                <a:alpha val="100000"/>
              </a:schemeClr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>
              <p:custDataLst>
                <p:tags r:id="rId5"/>
              </p:custDataLst>
            </p:nvPr>
          </p:nvSpPr>
          <p:spPr>
            <a:xfrm>
              <a:off x="6690" y="4396"/>
              <a:ext cx="7303" cy="1088"/>
            </a:xfrm>
            <a:prstGeom prst="roundRect">
              <a:avLst>
                <a:gd name="adj" fmla="val 33537"/>
              </a:avLst>
            </a:prstGeom>
            <a:solidFill>
              <a:schemeClr val="bg1">
                <a:alpha val="100000"/>
              </a:schemeClr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>
              <p:custDataLst>
                <p:tags r:id="rId6"/>
              </p:custDataLst>
            </p:nvPr>
          </p:nvSpPr>
          <p:spPr>
            <a:xfrm>
              <a:off x="6690" y="5632"/>
              <a:ext cx="7303" cy="1088"/>
            </a:xfrm>
            <a:prstGeom prst="roundRect">
              <a:avLst>
                <a:gd name="adj" fmla="val 33537"/>
              </a:avLst>
            </a:prstGeom>
            <a:solidFill>
              <a:schemeClr val="bg1">
                <a:alpha val="100000"/>
              </a:schemeClr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圆角矩形 20"/>
            <p:cNvSpPr/>
            <p:nvPr>
              <p:custDataLst>
                <p:tags r:id="rId7"/>
              </p:custDataLst>
            </p:nvPr>
          </p:nvSpPr>
          <p:spPr>
            <a:xfrm>
              <a:off x="6690" y="6927"/>
              <a:ext cx="7303" cy="1088"/>
            </a:xfrm>
            <a:prstGeom prst="roundRect">
              <a:avLst>
                <a:gd name="adj" fmla="val 33537"/>
              </a:avLst>
            </a:prstGeom>
            <a:solidFill>
              <a:schemeClr val="bg1">
                <a:alpha val="100000"/>
              </a:schemeClr>
            </a:solidFill>
            <a:ln>
              <a:noFill/>
            </a:ln>
            <a:effectLst>
              <a:outerShdw blurRad="1778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 userDrawn="1"/>
          </p:nvGrpSpPr>
          <p:grpSpPr>
            <a:xfrm>
              <a:off x="8155" y="1945"/>
              <a:ext cx="5598" cy="5840"/>
              <a:chOff x="8155" y="1945"/>
              <a:chExt cx="5598" cy="5840"/>
            </a:xfrm>
          </p:grpSpPr>
          <p:sp>
            <p:nvSpPr>
              <p:cNvPr id="45" name="文本框 4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155" y="1945"/>
                <a:ext cx="4945" cy="66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zh-CN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</a:rPr>
                  <a:t>决议事项跟进</a:t>
                </a:r>
                <a:endParaRPr lang="zh-CN" sz="2800" b="1" u="none" strike="noStrike">
                  <a:solidFill>
                    <a:srgbClr val="1F29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FillTx/>
                  <a:latin typeface="方正楷体_GBK" panose="02000000000000000000" charset="-122"/>
                  <a:ea typeface="方正楷体_GBK" panose="02000000000000000000" charset="-122"/>
                </a:endParaRPr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155" y="4575"/>
                <a:ext cx="5598" cy="66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zh-CN" sz="2800" b="1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  <a:sym typeface="+mn-ea"/>
                  </a:rPr>
                  <a:t>运营情况</a:t>
                </a:r>
                <a:r>
                  <a:rPr lang="en-US" altLang="zh-CN" sz="2800" b="1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  <a:sym typeface="+mn-ea"/>
                  </a:rPr>
                  <a:t>/</a:t>
                </a:r>
                <a:r>
                  <a:rPr lang="zh-CN" altLang="en-US" sz="2800" b="1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  <a:sym typeface="+mn-ea"/>
                  </a:rPr>
                  <a:t>重点工作</a:t>
                </a:r>
                <a:endParaRPr lang="zh-CN" altLang="en-US" sz="2800" b="1" u="none" strike="noStrike">
                  <a:solidFill>
                    <a:srgbClr val="1F29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FillTx/>
                  <a:latin typeface="方正楷体_GBK" panose="02000000000000000000" charset="-122"/>
                  <a:ea typeface="方正楷体_GBK" panose="02000000000000000000" charset="-122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155" y="7124"/>
                <a:ext cx="5598" cy="66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zh-CN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</a:rPr>
                  <a:t>工作计划</a:t>
                </a:r>
                <a:endParaRPr lang="zh-CN" sz="2800" b="1" u="none" strike="noStrike">
                  <a:solidFill>
                    <a:srgbClr val="1F29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FillTx/>
                  <a:latin typeface="方正楷体_GBK" panose="02000000000000000000" charset="-122"/>
                  <a:ea typeface="方正楷体_GBK" panose="02000000000000000000" charset="-122"/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155" y="3264"/>
                <a:ext cx="5363" cy="66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zh-CN" altLang="en-US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</a:rPr>
                  <a:t>安全</a:t>
                </a:r>
                <a:r>
                  <a:rPr lang="en-US" altLang="zh-CN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</a:rPr>
                  <a:t>/</a:t>
                </a:r>
                <a:r>
                  <a:rPr lang="zh-CN" altLang="en-US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</a:rPr>
                  <a:t>环保</a:t>
                </a:r>
                <a:endParaRPr lang="zh-CN" altLang="en-US" sz="2800" b="1" u="none" strike="noStrike">
                  <a:solidFill>
                    <a:srgbClr val="1F29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FillTx/>
                  <a:latin typeface="方正楷体_GBK" panose="02000000000000000000" charset="-122"/>
                  <a:ea typeface="方正楷体_GBK" panose="02000000000000000000" charset="-122"/>
                </a:endParaRPr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155" y="5837"/>
                <a:ext cx="4944" cy="66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zh-CN" altLang="en-US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  <a:cs typeface="方正楷体_GBK" panose="02000000000000000000" charset="-122"/>
                  </a:rPr>
                  <a:t>精益</a:t>
                </a:r>
                <a:r>
                  <a:rPr lang="en-US" altLang="zh-CN" sz="2800" b="1" u="none" strike="noStrike">
                    <a:solidFill>
                      <a:srgbClr val="1F293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方正楷体_GBK" panose="02000000000000000000" charset="-122"/>
                    <a:ea typeface="方正楷体_GBK" panose="02000000000000000000" charset="-122"/>
                    <a:cs typeface="方正楷体_GBK" panose="02000000000000000000" charset="-122"/>
                  </a:rPr>
                  <a:t>/SCORE</a:t>
                </a:r>
                <a:endParaRPr lang="en-US" altLang="zh-CN" sz="2800" b="1" u="none" strike="noStrike">
                  <a:solidFill>
                    <a:srgbClr val="1F29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FillTx/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</a:endParaRPr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7079" y="1904"/>
              <a:ext cx="794" cy="5971"/>
              <a:chOff x="7079" y="1904"/>
              <a:chExt cx="794" cy="5971"/>
            </a:xfrm>
          </p:grpSpPr>
          <p:grpSp>
            <p:nvGrpSpPr>
              <p:cNvPr id="52" name="组合 51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7079" y="1904"/>
                <a:ext cx="794" cy="794"/>
                <a:chOff x="10200" y="5100"/>
                <a:chExt cx="794" cy="794"/>
              </a:xfrm>
            </p:grpSpPr>
            <p:sp>
              <p:nvSpPr>
                <p:cNvPr id="53" name="任意多边形 52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0200" y="5100"/>
                  <a:ext cx="794" cy="7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54" h="954">
                      <a:moveTo>
                        <a:pt x="954" y="478"/>
                      </a:moveTo>
                      <a:cubicBezTo>
                        <a:pt x="954" y="509"/>
                        <a:pt x="951" y="540"/>
                        <a:pt x="945" y="570"/>
                      </a:cubicBezTo>
                      <a:cubicBezTo>
                        <a:pt x="938" y="601"/>
                        <a:pt x="929" y="631"/>
                        <a:pt x="917" y="660"/>
                      </a:cubicBezTo>
                      <a:cubicBezTo>
                        <a:pt x="905" y="689"/>
                        <a:pt x="891" y="716"/>
                        <a:pt x="873" y="742"/>
                      </a:cubicBezTo>
                      <a:cubicBezTo>
                        <a:pt x="856" y="768"/>
                        <a:pt x="836" y="792"/>
                        <a:pt x="814" y="814"/>
                      </a:cubicBezTo>
                      <a:cubicBezTo>
                        <a:pt x="792" y="836"/>
                        <a:pt x="768" y="856"/>
                        <a:pt x="742" y="874"/>
                      </a:cubicBezTo>
                      <a:cubicBezTo>
                        <a:pt x="716" y="891"/>
                        <a:pt x="689" y="906"/>
                        <a:pt x="660" y="918"/>
                      </a:cubicBezTo>
                      <a:cubicBezTo>
                        <a:pt x="631" y="930"/>
                        <a:pt x="601" y="939"/>
                        <a:pt x="569" y="945"/>
                      </a:cubicBezTo>
                      <a:cubicBezTo>
                        <a:pt x="539" y="951"/>
                        <a:pt x="508" y="954"/>
                        <a:pt x="476" y="954"/>
                      </a:cubicBezTo>
                      <a:cubicBezTo>
                        <a:pt x="445" y="954"/>
                        <a:pt x="414" y="951"/>
                        <a:pt x="384" y="945"/>
                      </a:cubicBezTo>
                      <a:cubicBezTo>
                        <a:pt x="353" y="939"/>
                        <a:pt x="323" y="930"/>
                        <a:pt x="294" y="918"/>
                      </a:cubicBezTo>
                      <a:cubicBezTo>
                        <a:pt x="265" y="906"/>
                        <a:pt x="238" y="891"/>
                        <a:pt x="212" y="874"/>
                      </a:cubicBezTo>
                      <a:cubicBezTo>
                        <a:pt x="186" y="856"/>
                        <a:pt x="162" y="836"/>
                        <a:pt x="140" y="814"/>
                      </a:cubicBezTo>
                      <a:cubicBezTo>
                        <a:pt x="118" y="792"/>
                        <a:pt x="98" y="768"/>
                        <a:pt x="80" y="742"/>
                      </a:cubicBezTo>
                      <a:cubicBezTo>
                        <a:pt x="63" y="716"/>
                        <a:pt x="48" y="689"/>
                        <a:pt x="36" y="660"/>
                      </a:cubicBezTo>
                      <a:cubicBezTo>
                        <a:pt x="24" y="631"/>
                        <a:pt x="15" y="601"/>
                        <a:pt x="9" y="570"/>
                      </a:cubicBezTo>
                      <a:cubicBezTo>
                        <a:pt x="3" y="540"/>
                        <a:pt x="0" y="509"/>
                        <a:pt x="0" y="478"/>
                      </a:cubicBezTo>
                      <a:cubicBezTo>
                        <a:pt x="0" y="446"/>
                        <a:pt x="3" y="415"/>
                        <a:pt x="9" y="385"/>
                      </a:cubicBezTo>
                      <a:cubicBezTo>
                        <a:pt x="15" y="354"/>
                        <a:pt x="24" y="324"/>
                        <a:pt x="36" y="295"/>
                      </a:cubicBezTo>
                      <a:cubicBezTo>
                        <a:pt x="48" y="266"/>
                        <a:pt x="63" y="239"/>
                        <a:pt x="80" y="213"/>
                      </a:cubicBezTo>
                      <a:cubicBezTo>
                        <a:pt x="98" y="187"/>
                        <a:pt x="118" y="163"/>
                        <a:pt x="140" y="141"/>
                      </a:cubicBezTo>
                      <a:cubicBezTo>
                        <a:pt x="162" y="119"/>
                        <a:pt x="186" y="99"/>
                        <a:pt x="212" y="82"/>
                      </a:cubicBezTo>
                      <a:cubicBezTo>
                        <a:pt x="238" y="64"/>
                        <a:pt x="265" y="50"/>
                        <a:pt x="294" y="37"/>
                      </a:cubicBezTo>
                      <a:cubicBezTo>
                        <a:pt x="323" y="25"/>
                        <a:pt x="353" y="16"/>
                        <a:pt x="384" y="9"/>
                      </a:cubicBezTo>
                      <a:cubicBezTo>
                        <a:pt x="414" y="3"/>
                        <a:pt x="445" y="0"/>
                        <a:pt x="476" y="0"/>
                      </a:cubicBezTo>
                      <a:cubicBezTo>
                        <a:pt x="508" y="0"/>
                        <a:pt x="539" y="3"/>
                        <a:pt x="569" y="9"/>
                      </a:cubicBezTo>
                      <a:cubicBezTo>
                        <a:pt x="601" y="16"/>
                        <a:pt x="631" y="25"/>
                        <a:pt x="660" y="37"/>
                      </a:cubicBezTo>
                      <a:cubicBezTo>
                        <a:pt x="689" y="50"/>
                        <a:pt x="716" y="64"/>
                        <a:pt x="742" y="82"/>
                      </a:cubicBezTo>
                      <a:cubicBezTo>
                        <a:pt x="768" y="99"/>
                        <a:pt x="792" y="119"/>
                        <a:pt x="814" y="141"/>
                      </a:cubicBezTo>
                      <a:cubicBezTo>
                        <a:pt x="836" y="163"/>
                        <a:pt x="856" y="187"/>
                        <a:pt x="873" y="213"/>
                      </a:cubicBezTo>
                      <a:cubicBezTo>
                        <a:pt x="891" y="239"/>
                        <a:pt x="905" y="266"/>
                        <a:pt x="917" y="295"/>
                      </a:cubicBezTo>
                      <a:cubicBezTo>
                        <a:pt x="929" y="324"/>
                        <a:pt x="938" y="354"/>
                        <a:pt x="945" y="385"/>
                      </a:cubicBezTo>
                      <a:cubicBezTo>
                        <a:pt x="951" y="415"/>
                        <a:pt x="954" y="446"/>
                        <a:pt x="954" y="478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 w="0">
                  <a:noFill/>
                </a:ln>
              </p:spPr>
              <p:txBody>
                <a:bodyPr lIns="0" tIns="0" rIns="0" bIns="0" anchor="t">
                  <a:noAutofit/>
                </a:bodyPr>
                <a:lstStyle/>
                <a:p>
                  <a:pPr algn="ctr"/>
                  <a:endParaRPr lang="en-US" sz="2400" b="0" u="none" strike="noStrike">
                    <a:solidFill>
                      <a:srgbClr val="FFFFFF"/>
                    </a:solidFill>
                    <a:effectLst/>
                    <a:uFillTx/>
                    <a:latin typeface="Times New Roman" panose="02020603050405020304"/>
                  </a:endParaRPr>
                </a:p>
              </p:txBody>
            </p:sp>
            <p:sp>
              <p:nvSpPr>
                <p:cNvPr id="54" name="文本框 53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0200" y="5201"/>
                  <a:ext cx="793" cy="69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sz="2000" b="1" u="none" strike="noStrike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FillTx/>
                      <a:latin typeface="NotoSansSC" panose="020B0200000000000000" charset="-122"/>
                      <a:ea typeface="NotoSansSC" panose="020B0200000000000000" charset="-122"/>
                    </a:rPr>
                    <a:t>01</a:t>
                  </a:r>
                  <a:endParaRPr lang="en-US" sz="2000" b="1" u="none" strike="noStrike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NotoSansSC" panose="020B0200000000000000" charset="-122"/>
                    <a:ea typeface="NotoSansSC" panose="020B02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7079" y="4493"/>
                <a:ext cx="794" cy="794"/>
                <a:chOff x="10200" y="5100"/>
                <a:chExt cx="794" cy="794"/>
              </a:xfrm>
            </p:grpSpPr>
            <p:sp>
              <p:nvSpPr>
                <p:cNvPr id="56" name="任意多边形 55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0200" y="5100"/>
                  <a:ext cx="794" cy="7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54" h="954">
                      <a:moveTo>
                        <a:pt x="954" y="478"/>
                      </a:moveTo>
                      <a:cubicBezTo>
                        <a:pt x="954" y="509"/>
                        <a:pt x="951" y="540"/>
                        <a:pt x="945" y="570"/>
                      </a:cubicBezTo>
                      <a:cubicBezTo>
                        <a:pt x="938" y="601"/>
                        <a:pt x="929" y="631"/>
                        <a:pt x="917" y="660"/>
                      </a:cubicBezTo>
                      <a:cubicBezTo>
                        <a:pt x="905" y="689"/>
                        <a:pt x="891" y="716"/>
                        <a:pt x="873" y="742"/>
                      </a:cubicBezTo>
                      <a:cubicBezTo>
                        <a:pt x="856" y="768"/>
                        <a:pt x="836" y="792"/>
                        <a:pt x="814" y="814"/>
                      </a:cubicBezTo>
                      <a:cubicBezTo>
                        <a:pt x="792" y="836"/>
                        <a:pt x="768" y="856"/>
                        <a:pt x="742" y="874"/>
                      </a:cubicBezTo>
                      <a:cubicBezTo>
                        <a:pt x="716" y="891"/>
                        <a:pt x="689" y="906"/>
                        <a:pt x="660" y="918"/>
                      </a:cubicBezTo>
                      <a:cubicBezTo>
                        <a:pt x="631" y="930"/>
                        <a:pt x="601" y="939"/>
                        <a:pt x="569" y="945"/>
                      </a:cubicBezTo>
                      <a:cubicBezTo>
                        <a:pt x="539" y="951"/>
                        <a:pt x="508" y="954"/>
                        <a:pt x="476" y="954"/>
                      </a:cubicBezTo>
                      <a:cubicBezTo>
                        <a:pt x="445" y="954"/>
                        <a:pt x="414" y="951"/>
                        <a:pt x="384" y="945"/>
                      </a:cubicBezTo>
                      <a:cubicBezTo>
                        <a:pt x="353" y="939"/>
                        <a:pt x="323" y="930"/>
                        <a:pt x="294" y="918"/>
                      </a:cubicBezTo>
                      <a:cubicBezTo>
                        <a:pt x="265" y="906"/>
                        <a:pt x="238" y="891"/>
                        <a:pt x="212" y="874"/>
                      </a:cubicBezTo>
                      <a:cubicBezTo>
                        <a:pt x="186" y="856"/>
                        <a:pt x="162" y="836"/>
                        <a:pt x="140" y="814"/>
                      </a:cubicBezTo>
                      <a:cubicBezTo>
                        <a:pt x="118" y="792"/>
                        <a:pt x="98" y="768"/>
                        <a:pt x="80" y="742"/>
                      </a:cubicBezTo>
                      <a:cubicBezTo>
                        <a:pt x="63" y="716"/>
                        <a:pt x="48" y="689"/>
                        <a:pt x="36" y="660"/>
                      </a:cubicBezTo>
                      <a:cubicBezTo>
                        <a:pt x="24" y="631"/>
                        <a:pt x="15" y="601"/>
                        <a:pt x="9" y="570"/>
                      </a:cubicBezTo>
                      <a:cubicBezTo>
                        <a:pt x="3" y="540"/>
                        <a:pt x="0" y="509"/>
                        <a:pt x="0" y="478"/>
                      </a:cubicBezTo>
                      <a:cubicBezTo>
                        <a:pt x="0" y="446"/>
                        <a:pt x="3" y="415"/>
                        <a:pt x="9" y="385"/>
                      </a:cubicBezTo>
                      <a:cubicBezTo>
                        <a:pt x="15" y="354"/>
                        <a:pt x="24" y="324"/>
                        <a:pt x="36" y="295"/>
                      </a:cubicBezTo>
                      <a:cubicBezTo>
                        <a:pt x="48" y="266"/>
                        <a:pt x="63" y="239"/>
                        <a:pt x="80" y="213"/>
                      </a:cubicBezTo>
                      <a:cubicBezTo>
                        <a:pt x="98" y="187"/>
                        <a:pt x="118" y="163"/>
                        <a:pt x="140" y="141"/>
                      </a:cubicBezTo>
                      <a:cubicBezTo>
                        <a:pt x="162" y="119"/>
                        <a:pt x="186" y="99"/>
                        <a:pt x="212" y="82"/>
                      </a:cubicBezTo>
                      <a:cubicBezTo>
                        <a:pt x="238" y="64"/>
                        <a:pt x="265" y="50"/>
                        <a:pt x="294" y="37"/>
                      </a:cubicBezTo>
                      <a:cubicBezTo>
                        <a:pt x="323" y="25"/>
                        <a:pt x="353" y="16"/>
                        <a:pt x="384" y="9"/>
                      </a:cubicBezTo>
                      <a:cubicBezTo>
                        <a:pt x="414" y="3"/>
                        <a:pt x="445" y="0"/>
                        <a:pt x="476" y="0"/>
                      </a:cubicBezTo>
                      <a:cubicBezTo>
                        <a:pt x="508" y="0"/>
                        <a:pt x="539" y="3"/>
                        <a:pt x="569" y="9"/>
                      </a:cubicBezTo>
                      <a:cubicBezTo>
                        <a:pt x="601" y="16"/>
                        <a:pt x="631" y="25"/>
                        <a:pt x="660" y="37"/>
                      </a:cubicBezTo>
                      <a:cubicBezTo>
                        <a:pt x="689" y="50"/>
                        <a:pt x="716" y="64"/>
                        <a:pt x="742" y="82"/>
                      </a:cubicBezTo>
                      <a:cubicBezTo>
                        <a:pt x="768" y="99"/>
                        <a:pt x="792" y="119"/>
                        <a:pt x="814" y="141"/>
                      </a:cubicBezTo>
                      <a:cubicBezTo>
                        <a:pt x="836" y="163"/>
                        <a:pt x="856" y="187"/>
                        <a:pt x="873" y="213"/>
                      </a:cubicBezTo>
                      <a:cubicBezTo>
                        <a:pt x="891" y="239"/>
                        <a:pt x="905" y="266"/>
                        <a:pt x="917" y="295"/>
                      </a:cubicBezTo>
                      <a:cubicBezTo>
                        <a:pt x="929" y="324"/>
                        <a:pt x="938" y="354"/>
                        <a:pt x="945" y="385"/>
                      </a:cubicBezTo>
                      <a:cubicBezTo>
                        <a:pt x="951" y="415"/>
                        <a:pt x="954" y="446"/>
                        <a:pt x="954" y="478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 w="0">
                  <a:noFill/>
                </a:ln>
              </p:spPr>
              <p:txBody>
                <a:bodyPr lIns="0" tIns="0" rIns="0" bIns="0" anchor="t">
                  <a:noAutofit/>
                </a:bodyPr>
                <a:lstStyle/>
                <a:p>
                  <a:pPr algn="ctr"/>
                  <a:endParaRPr lang="en-US" sz="2400" b="0" u="none" strike="noStrike">
                    <a:solidFill>
                      <a:srgbClr val="FFFFFF"/>
                    </a:solidFill>
                    <a:effectLst/>
                    <a:uFillTx/>
                    <a:latin typeface="Times New Roman" panose="02020603050405020304"/>
                  </a:endParaRPr>
                </a:p>
              </p:txBody>
            </p:sp>
            <p:sp>
              <p:nvSpPr>
                <p:cNvPr id="57" name="文本框 56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10200" y="5201"/>
                  <a:ext cx="793" cy="69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sz="2000" b="1" u="none" strike="noStrike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FillTx/>
                      <a:latin typeface="NotoSansSC" panose="020B0200000000000000" charset="-122"/>
                      <a:ea typeface="NotoSansSC" panose="020B0200000000000000" charset="-122"/>
                    </a:rPr>
                    <a:t>03</a:t>
                  </a:r>
                  <a:endParaRPr lang="en-US" sz="2000" b="1" u="none" strike="noStrike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NotoSansSC" panose="020B0200000000000000" charset="-122"/>
                    <a:ea typeface="NotoSansSC" panose="020B0200000000000000" charset="-122"/>
                  </a:endParaRPr>
                </a:p>
              </p:txBody>
            </p:sp>
          </p:grpSp>
          <p:grpSp>
            <p:nvGrpSpPr>
              <p:cNvPr id="58" name="组合 57"/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7079" y="7081"/>
                <a:ext cx="794" cy="794"/>
                <a:chOff x="10200" y="5100"/>
                <a:chExt cx="794" cy="794"/>
              </a:xfrm>
            </p:grpSpPr>
            <p:sp>
              <p:nvSpPr>
                <p:cNvPr id="59" name="任意多边形 58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0200" y="5100"/>
                  <a:ext cx="794" cy="7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54" h="954">
                      <a:moveTo>
                        <a:pt x="954" y="478"/>
                      </a:moveTo>
                      <a:cubicBezTo>
                        <a:pt x="954" y="509"/>
                        <a:pt x="951" y="540"/>
                        <a:pt x="945" y="570"/>
                      </a:cubicBezTo>
                      <a:cubicBezTo>
                        <a:pt x="938" y="601"/>
                        <a:pt x="929" y="631"/>
                        <a:pt x="917" y="660"/>
                      </a:cubicBezTo>
                      <a:cubicBezTo>
                        <a:pt x="905" y="689"/>
                        <a:pt x="891" y="716"/>
                        <a:pt x="873" y="742"/>
                      </a:cubicBezTo>
                      <a:cubicBezTo>
                        <a:pt x="856" y="768"/>
                        <a:pt x="836" y="792"/>
                        <a:pt x="814" y="814"/>
                      </a:cubicBezTo>
                      <a:cubicBezTo>
                        <a:pt x="792" y="836"/>
                        <a:pt x="768" y="856"/>
                        <a:pt x="742" y="874"/>
                      </a:cubicBezTo>
                      <a:cubicBezTo>
                        <a:pt x="716" y="891"/>
                        <a:pt x="689" y="906"/>
                        <a:pt x="660" y="918"/>
                      </a:cubicBezTo>
                      <a:cubicBezTo>
                        <a:pt x="631" y="930"/>
                        <a:pt x="601" y="939"/>
                        <a:pt x="569" y="945"/>
                      </a:cubicBezTo>
                      <a:cubicBezTo>
                        <a:pt x="539" y="951"/>
                        <a:pt x="508" y="954"/>
                        <a:pt x="476" y="954"/>
                      </a:cubicBezTo>
                      <a:cubicBezTo>
                        <a:pt x="445" y="954"/>
                        <a:pt x="414" y="951"/>
                        <a:pt x="384" y="945"/>
                      </a:cubicBezTo>
                      <a:cubicBezTo>
                        <a:pt x="353" y="939"/>
                        <a:pt x="323" y="930"/>
                        <a:pt x="294" y="918"/>
                      </a:cubicBezTo>
                      <a:cubicBezTo>
                        <a:pt x="265" y="906"/>
                        <a:pt x="238" y="891"/>
                        <a:pt x="212" y="874"/>
                      </a:cubicBezTo>
                      <a:cubicBezTo>
                        <a:pt x="186" y="856"/>
                        <a:pt x="162" y="836"/>
                        <a:pt x="140" y="814"/>
                      </a:cubicBezTo>
                      <a:cubicBezTo>
                        <a:pt x="118" y="792"/>
                        <a:pt x="98" y="768"/>
                        <a:pt x="80" y="742"/>
                      </a:cubicBezTo>
                      <a:cubicBezTo>
                        <a:pt x="63" y="716"/>
                        <a:pt x="48" y="689"/>
                        <a:pt x="36" y="660"/>
                      </a:cubicBezTo>
                      <a:cubicBezTo>
                        <a:pt x="24" y="631"/>
                        <a:pt x="15" y="601"/>
                        <a:pt x="9" y="570"/>
                      </a:cubicBezTo>
                      <a:cubicBezTo>
                        <a:pt x="3" y="540"/>
                        <a:pt x="0" y="509"/>
                        <a:pt x="0" y="478"/>
                      </a:cubicBezTo>
                      <a:cubicBezTo>
                        <a:pt x="0" y="446"/>
                        <a:pt x="3" y="415"/>
                        <a:pt x="9" y="385"/>
                      </a:cubicBezTo>
                      <a:cubicBezTo>
                        <a:pt x="15" y="354"/>
                        <a:pt x="24" y="324"/>
                        <a:pt x="36" y="295"/>
                      </a:cubicBezTo>
                      <a:cubicBezTo>
                        <a:pt x="48" y="266"/>
                        <a:pt x="63" y="239"/>
                        <a:pt x="80" y="213"/>
                      </a:cubicBezTo>
                      <a:cubicBezTo>
                        <a:pt x="98" y="187"/>
                        <a:pt x="118" y="163"/>
                        <a:pt x="140" y="141"/>
                      </a:cubicBezTo>
                      <a:cubicBezTo>
                        <a:pt x="162" y="119"/>
                        <a:pt x="186" y="99"/>
                        <a:pt x="212" y="82"/>
                      </a:cubicBezTo>
                      <a:cubicBezTo>
                        <a:pt x="238" y="64"/>
                        <a:pt x="265" y="50"/>
                        <a:pt x="294" y="37"/>
                      </a:cubicBezTo>
                      <a:cubicBezTo>
                        <a:pt x="323" y="25"/>
                        <a:pt x="353" y="16"/>
                        <a:pt x="384" y="9"/>
                      </a:cubicBezTo>
                      <a:cubicBezTo>
                        <a:pt x="414" y="3"/>
                        <a:pt x="445" y="0"/>
                        <a:pt x="476" y="0"/>
                      </a:cubicBezTo>
                      <a:cubicBezTo>
                        <a:pt x="508" y="0"/>
                        <a:pt x="539" y="3"/>
                        <a:pt x="569" y="9"/>
                      </a:cubicBezTo>
                      <a:cubicBezTo>
                        <a:pt x="601" y="16"/>
                        <a:pt x="631" y="25"/>
                        <a:pt x="660" y="37"/>
                      </a:cubicBezTo>
                      <a:cubicBezTo>
                        <a:pt x="689" y="50"/>
                        <a:pt x="716" y="64"/>
                        <a:pt x="742" y="82"/>
                      </a:cubicBezTo>
                      <a:cubicBezTo>
                        <a:pt x="768" y="99"/>
                        <a:pt x="792" y="119"/>
                        <a:pt x="814" y="141"/>
                      </a:cubicBezTo>
                      <a:cubicBezTo>
                        <a:pt x="836" y="163"/>
                        <a:pt x="856" y="187"/>
                        <a:pt x="873" y="213"/>
                      </a:cubicBezTo>
                      <a:cubicBezTo>
                        <a:pt x="891" y="239"/>
                        <a:pt x="905" y="266"/>
                        <a:pt x="917" y="295"/>
                      </a:cubicBezTo>
                      <a:cubicBezTo>
                        <a:pt x="929" y="324"/>
                        <a:pt x="938" y="354"/>
                        <a:pt x="945" y="385"/>
                      </a:cubicBezTo>
                      <a:cubicBezTo>
                        <a:pt x="951" y="415"/>
                        <a:pt x="954" y="446"/>
                        <a:pt x="954" y="478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 w="0">
                  <a:noFill/>
                </a:ln>
              </p:spPr>
              <p:txBody>
                <a:bodyPr lIns="0" tIns="0" rIns="0" bIns="0" anchor="t">
                  <a:noAutofit/>
                </a:bodyPr>
                <a:lstStyle/>
                <a:p>
                  <a:pPr algn="ctr"/>
                  <a:endParaRPr lang="en-US" sz="2400" b="0" u="none" strike="noStrike">
                    <a:solidFill>
                      <a:srgbClr val="FFFFFF"/>
                    </a:solidFill>
                    <a:effectLst/>
                    <a:uFillTx/>
                    <a:latin typeface="Times New Roman" panose="02020603050405020304"/>
                  </a:endParaRPr>
                </a:p>
              </p:txBody>
            </p:sp>
            <p:sp>
              <p:nvSpPr>
                <p:cNvPr id="60" name="文本框 59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0200" y="5201"/>
                  <a:ext cx="793" cy="69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sz="2000" b="1" u="none" strike="noStrike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FillTx/>
                      <a:latin typeface="NotoSansSC" panose="020B0200000000000000" charset="-122"/>
                      <a:ea typeface="NotoSansSC" panose="020B0200000000000000" charset="-122"/>
                    </a:rPr>
                    <a:t>05</a:t>
                  </a:r>
                  <a:endParaRPr lang="en-US" sz="2000" b="1" u="none" strike="noStrike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NotoSansSC" panose="020B0200000000000000" charset="-122"/>
                    <a:ea typeface="NotoSansSC" panose="020B0200000000000000" charset="-122"/>
                  </a:endParaRPr>
                </a:p>
              </p:txBody>
            </p:sp>
          </p:grpSp>
          <p:grpSp>
            <p:nvGrpSpPr>
              <p:cNvPr id="63" name="组合 62"/>
              <p:cNvGrpSpPr/>
              <p:nvPr>
                <p:custDataLst>
                  <p:tags r:id="rId22"/>
                </p:custDataLst>
              </p:nvPr>
            </p:nvGrpSpPr>
            <p:grpSpPr>
              <a:xfrm>
                <a:off x="7079" y="3198"/>
                <a:ext cx="794" cy="794"/>
                <a:chOff x="10200" y="5100"/>
                <a:chExt cx="794" cy="794"/>
              </a:xfrm>
            </p:grpSpPr>
            <p:sp>
              <p:nvSpPr>
                <p:cNvPr id="64" name="任意多边形 63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200" y="5100"/>
                  <a:ext cx="794" cy="7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54" h="954">
                      <a:moveTo>
                        <a:pt x="954" y="478"/>
                      </a:moveTo>
                      <a:cubicBezTo>
                        <a:pt x="954" y="509"/>
                        <a:pt x="951" y="540"/>
                        <a:pt x="945" y="570"/>
                      </a:cubicBezTo>
                      <a:cubicBezTo>
                        <a:pt x="938" y="601"/>
                        <a:pt x="929" y="631"/>
                        <a:pt x="917" y="660"/>
                      </a:cubicBezTo>
                      <a:cubicBezTo>
                        <a:pt x="905" y="689"/>
                        <a:pt x="891" y="716"/>
                        <a:pt x="873" y="742"/>
                      </a:cubicBezTo>
                      <a:cubicBezTo>
                        <a:pt x="856" y="768"/>
                        <a:pt x="836" y="792"/>
                        <a:pt x="814" y="814"/>
                      </a:cubicBezTo>
                      <a:cubicBezTo>
                        <a:pt x="792" y="836"/>
                        <a:pt x="768" y="856"/>
                        <a:pt x="742" y="874"/>
                      </a:cubicBezTo>
                      <a:cubicBezTo>
                        <a:pt x="716" y="891"/>
                        <a:pt x="689" y="906"/>
                        <a:pt x="660" y="918"/>
                      </a:cubicBezTo>
                      <a:cubicBezTo>
                        <a:pt x="631" y="930"/>
                        <a:pt x="601" y="939"/>
                        <a:pt x="569" y="945"/>
                      </a:cubicBezTo>
                      <a:cubicBezTo>
                        <a:pt x="539" y="951"/>
                        <a:pt x="508" y="954"/>
                        <a:pt x="476" y="954"/>
                      </a:cubicBezTo>
                      <a:cubicBezTo>
                        <a:pt x="445" y="954"/>
                        <a:pt x="414" y="951"/>
                        <a:pt x="384" y="945"/>
                      </a:cubicBezTo>
                      <a:cubicBezTo>
                        <a:pt x="353" y="939"/>
                        <a:pt x="323" y="930"/>
                        <a:pt x="294" y="918"/>
                      </a:cubicBezTo>
                      <a:cubicBezTo>
                        <a:pt x="265" y="906"/>
                        <a:pt x="238" y="891"/>
                        <a:pt x="212" y="874"/>
                      </a:cubicBezTo>
                      <a:cubicBezTo>
                        <a:pt x="186" y="856"/>
                        <a:pt x="162" y="836"/>
                        <a:pt x="140" y="814"/>
                      </a:cubicBezTo>
                      <a:cubicBezTo>
                        <a:pt x="118" y="792"/>
                        <a:pt x="98" y="768"/>
                        <a:pt x="80" y="742"/>
                      </a:cubicBezTo>
                      <a:cubicBezTo>
                        <a:pt x="63" y="716"/>
                        <a:pt x="48" y="689"/>
                        <a:pt x="36" y="660"/>
                      </a:cubicBezTo>
                      <a:cubicBezTo>
                        <a:pt x="24" y="631"/>
                        <a:pt x="15" y="601"/>
                        <a:pt x="9" y="570"/>
                      </a:cubicBezTo>
                      <a:cubicBezTo>
                        <a:pt x="3" y="540"/>
                        <a:pt x="0" y="509"/>
                        <a:pt x="0" y="478"/>
                      </a:cubicBezTo>
                      <a:cubicBezTo>
                        <a:pt x="0" y="446"/>
                        <a:pt x="3" y="415"/>
                        <a:pt x="9" y="385"/>
                      </a:cubicBezTo>
                      <a:cubicBezTo>
                        <a:pt x="15" y="354"/>
                        <a:pt x="24" y="324"/>
                        <a:pt x="36" y="295"/>
                      </a:cubicBezTo>
                      <a:cubicBezTo>
                        <a:pt x="48" y="266"/>
                        <a:pt x="63" y="239"/>
                        <a:pt x="80" y="213"/>
                      </a:cubicBezTo>
                      <a:cubicBezTo>
                        <a:pt x="98" y="187"/>
                        <a:pt x="118" y="163"/>
                        <a:pt x="140" y="141"/>
                      </a:cubicBezTo>
                      <a:cubicBezTo>
                        <a:pt x="162" y="119"/>
                        <a:pt x="186" y="99"/>
                        <a:pt x="212" y="82"/>
                      </a:cubicBezTo>
                      <a:cubicBezTo>
                        <a:pt x="238" y="64"/>
                        <a:pt x="265" y="50"/>
                        <a:pt x="294" y="37"/>
                      </a:cubicBezTo>
                      <a:cubicBezTo>
                        <a:pt x="323" y="25"/>
                        <a:pt x="353" y="16"/>
                        <a:pt x="384" y="9"/>
                      </a:cubicBezTo>
                      <a:cubicBezTo>
                        <a:pt x="414" y="3"/>
                        <a:pt x="445" y="0"/>
                        <a:pt x="476" y="0"/>
                      </a:cubicBezTo>
                      <a:cubicBezTo>
                        <a:pt x="508" y="0"/>
                        <a:pt x="539" y="3"/>
                        <a:pt x="569" y="9"/>
                      </a:cubicBezTo>
                      <a:cubicBezTo>
                        <a:pt x="601" y="16"/>
                        <a:pt x="631" y="25"/>
                        <a:pt x="660" y="37"/>
                      </a:cubicBezTo>
                      <a:cubicBezTo>
                        <a:pt x="689" y="50"/>
                        <a:pt x="716" y="64"/>
                        <a:pt x="742" y="82"/>
                      </a:cubicBezTo>
                      <a:cubicBezTo>
                        <a:pt x="768" y="99"/>
                        <a:pt x="792" y="119"/>
                        <a:pt x="814" y="141"/>
                      </a:cubicBezTo>
                      <a:cubicBezTo>
                        <a:pt x="836" y="163"/>
                        <a:pt x="856" y="187"/>
                        <a:pt x="873" y="213"/>
                      </a:cubicBezTo>
                      <a:cubicBezTo>
                        <a:pt x="891" y="239"/>
                        <a:pt x="905" y="266"/>
                        <a:pt x="917" y="295"/>
                      </a:cubicBezTo>
                      <a:cubicBezTo>
                        <a:pt x="929" y="324"/>
                        <a:pt x="938" y="354"/>
                        <a:pt x="945" y="385"/>
                      </a:cubicBezTo>
                      <a:cubicBezTo>
                        <a:pt x="951" y="415"/>
                        <a:pt x="954" y="446"/>
                        <a:pt x="954" y="478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 w="0">
                  <a:noFill/>
                </a:ln>
              </p:spPr>
              <p:txBody>
                <a:bodyPr lIns="0" tIns="0" rIns="0" bIns="0" anchor="t">
                  <a:noAutofit/>
                </a:bodyPr>
                <a:lstStyle/>
                <a:p>
                  <a:pPr algn="ctr"/>
                  <a:endParaRPr lang="en-US" sz="2400" b="0" u="none" strike="noStrike">
                    <a:solidFill>
                      <a:srgbClr val="FFFFFF"/>
                    </a:solidFill>
                    <a:effectLst/>
                    <a:uFillTx/>
                    <a:latin typeface="Times New Roman" panose="02020603050405020304"/>
                  </a:endParaRPr>
                </a:p>
              </p:txBody>
            </p:sp>
            <p:sp>
              <p:nvSpPr>
                <p:cNvPr id="65" name="文本框 6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10200" y="5201"/>
                  <a:ext cx="793" cy="69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sz="2000" b="1" u="none" strike="noStrike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FillTx/>
                      <a:latin typeface="NotoSansSC" panose="020B0200000000000000" charset="-122"/>
                      <a:ea typeface="NotoSansSC" panose="020B0200000000000000" charset="-122"/>
                    </a:rPr>
                    <a:t>02</a:t>
                  </a:r>
                  <a:endParaRPr lang="en-US" sz="2000" b="1" u="none" strike="noStrike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NotoSansSC" panose="020B0200000000000000" charset="-122"/>
                    <a:ea typeface="NotoSansSC" panose="020B0200000000000000" charset="-122"/>
                  </a:endParaRPr>
                </a:p>
              </p:txBody>
            </p:sp>
          </p:grpSp>
          <p:grpSp>
            <p:nvGrpSpPr>
              <p:cNvPr id="66" name="组合 65"/>
              <p:cNvGrpSpPr/>
              <p:nvPr>
                <p:custDataLst>
                  <p:tags r:id="rId25"/>
                </p:custDataLst>
              </p:nvPr>
            </p:nvGrpSpPr>
            <p:grpSpPr>
              <a:xfrm>
                <a:off x="7079" y="5787"/>
                <a:ext cx="794" cy="794"/>
                <a:chOff x="10200" y="5100"/>
                <a:chExt cx="794" cy="794"/>
              </a:xfrm>
            </p:grpSpPr>
            <p:sp>
              <p:nvSpPr>
                <p:cNvPr id="67" name="任意多边形 66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0200" y="5100"/>
                  <a:ext cx="794" cy="7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54" h="954">
                      <a:moveTo>
                        <a:pt x="954" y="478"/>
                      </a:moveTo>
                      <a:cubicBezTo>
                        <a:pt x="954" y="509"/>
                        <a:pt x="951" y="540"/>
                        <a:pt x="945" y="570"/>
                      </a:cubicBezTo>
                      <a:cubicBezTo>
                        <a:pt x="938" y="601"/>
                        <a:pt x="929" y="631"/>
                        <a:pt x="917" y="660"/>
                      </a:cubicBezTo>
                      <a:cubicBezTo>
                        <a:pt x="905" y="689"/>
                        <a:pt x="891" y="716"/>
                        <a:pt x="873" y="742"/>
                      </a:cubicBezTo>
                      <a:cubicBezTo>
                        <a:pt x="856" y="768"/>
                        <a:pt x="836" y="792"/>
                        <a:pt x="814" y="814"/>
                      </a:cubicBezTo>
                      <a:cubicBezTo>
                        <a:pt x="792" y="836"/>
                        <a:pt x="768" y="856"/>
                        <a:pt x="742" y="874"/>
                      </a:cubicBezTo>
                      <a:cubicBezTo>
                        <a:pt x="716" y="891"/>
                        <a:pt x="689" y="906"/>
                        <a:pt x="660" y="918"/>
                      </a:cubicBezTo>
                      <a:cubicBezTo>
                        <a:pt x="631" y="930"/>
                        <a:pt x="601" y="939"/>
                        <a:pt x="569" y="945"/>
                      </a:cubicBezTo>
                      <a:cubicBezTo>
                        <a:pt x="539" y="951"/>
                        <a:pt x="508" y="954"/>
                        <a:pt x="476" y="954"/>
                      </a:cubicBezTo>
                      <a:cubicBezTo>
                        <a:pt x="445" y="954"/>
                        <a:pt x="414" y="951"/>
                        <a:pt x="384" y="945"/>
                      </a:cubicBezTo>
                      <a:cubicBezTo>
                        <a:pt x="353" y="939"/>
                        <a:pt x="323" y="930"/>
                        <a:pt x="294" y="918"/>
                      </a:cubicBezTo>
                      <a:cubicBezTo>
                        <a:pt x="265" y="906"/>
                        <a:pt x="238" y="891"/>
                        <a:pt x="212" y="874"/>
                      </a:cubicBezTo>
                      <a:cubicBezTo>
                        <a:pt x="186" y="856"/>
                        <a:pt x="162" y="836"/>
                        <a:pt x="140" y="814"/>
                      </a:cubicBezTo>
                      <a:cubicBezTo>
                        <a:pt x="118" y="792"/>
                        <a:pt x="98" y="768"/>
                        <a:pt x="80" y="742"/>
                      </a:cubicBezTo>
                      <a:cubicBezTo>
                        <a:pt x="63" y="716"/>
                        <a:pt x="48" y="689"/>
                        <a:pt x="36" y="660"/>
                      </a:cubicBezTo>
                      <a:cubicBezTo>
                        <a:pt x="24" y="631"/>
                        <a:pt x="15" y="601"/>
                        <a:pt x="9" y="570"/>
                      </a:cubicBezTo>
                      <a:cubicBezTo>
                        <a:pt x="3" y="540"/>
                        <a:pt x="0" y="509"/>
                        <a:pt x="0" y="478"/>
                      </a:cubicBezTo>
                      <a:cubicBezTo>
                        <a:pt x="0" y="446"/>
                        <a:pt x="3" y="415"/>
                        <a:pt x="9" y="385"/>
                      </a:cubicBezTo>
                      <a:cubicBezTo>
                        <a:pt x="15" y="354"/>
                        <a:pt x="24" y="324"/>
                        <a:pt x="36" y="295"/>
                      </a:cubicBezTo>
                      <a:cubicBezTo>
                        <a:pt x="48" y="266"/>
                        <a:pt x="63" y="239"/>
                        <a:pt x="80" y="213"/>
                      </a:cubicBezTo>
                      <a:cubicBezTo>
                        <a:pt x="98" y="187"/>
                        <a:pt x="118" y="163"/>
                        <a:pt x="140" y="141"/>
                      </a:cubicBezTo>
                      <a:cubicBezTo>
                        <a:pt x="162" y="119"/>
                        <a:pt x="186" y="99"/>
                        <a:pt x="212" y="82"/>
                      </a:cubicBezTo>
                      <a:cubicBezTo>
                        <a:pt x="238" y="64"/>
                        <a:pt x="265" y="50"/>
                        <a:pt x="294" y="37"/>
                      </a:cubicBezTo>
                      <a:cubicBezTo>
                        <a:pt x="323" y="25"/>
                        <a:pt x="353" y="16"/>
                        <a:pt x="384" y="9"/>
                      </a:cubicBezTo>
                      <a:cubicBezTo>
                        <a:pt x="414" y="3"/>
                        <a:pt x="445" y="0"/>
                        <a:pt x="476" y="0"/>
                      </a:cubicBezTo>
                      <a:cubicBezTo>
                        <a:pt x="508" y="0"/>
                        <a:pt x="539" y="3"/>
                        <a:pt x="569" y="9"/>
                      </a:cubicBezTo>
                      <a:cubicBezTo>
                        <a:pt x="601" y="16"/>
                        <a:pt x="631" y="25"/>
                        <a:pt x="660" y="37"/>
                      </a:cubicBezTo>
                      <a:cubicBezTo>
                        <a:pt x="689" y="50"/>
                        <a:pt x="716" y="64"/>
                        <a:pt x="742" y="82"/>
                      </a:cubicBezTo>
                      <a:cubicBezTo>
                        <a:pt x="768" y="99"/>
                        <a:pt x="792" y="119"/>
                        <a:pt x="814" y="141"/>
                      </a:cubicBezTo>
                      <a:cubicBezTo>
                        <a:pt x="836" y="163"/>
                        <a:pt x="856" y="187"/>
                        <a:pt x="873" y="213"/>
                      </a:cubicBezTo>
                      <a:cubicBezTo>
                        <a:pt x="891" y="239"/>
                        <a:pt x="905" y="266"/>
                        <a:pt x="917" y="295"/>
                      </a:cubicBezTo>
                      <a:cubicBezTo>
                        <a:pt x="929" y="324"/>
                        <a:pt x="938" y="354"/>
                        <a:pt x="945" y="385"/>
                      </a:cubicBezTo>
                      <a:cubicBezTo>
                        <a:pt x="951" y="415"/>
                        <a:pt x="954" y="446"/>
                        <a:pt x="954" y="478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  <a:ln w="0">
                  <a:noFill/>
                </a:ln>
              </p:spPr>
              <p:txBody>
                <a:bodyPr lIns="0" tIns="0" rIns="0" bIns="0" anchor="t">
                  <a:noAutofit/>
                </a:bodyPr>
                <a:lstStyle/>
                <a:p>
                  <a:pPr algn="ctr"/>
                  <a:endParaRPr lang="en-US" sz="2400" b="0" u="none" strike="noStrike">
                    <a:solidFill>
                      <a:srgbClr val="FFFFFF"/>
                    </a:solidFill>
                    <a:effectLst/>
                    <a:uFillTx/>
                    <a:latin typeface="Times New Roman" panose="02020603050405020304"/>
                  </a:endParaRPr>
                </a:p>
              </p:txBody>
            </p:sp>
            <p:sp>
              <p:nvSpPr>
                <p:cNvPr id="68" name="文本框 67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0200" y="5201"/>
                  <a:ext cx="793" cy="69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sz="2000" b="1" u="none" strike="noStrike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FillTx/>
                      <a:latin typeface="NotoSansSC" panose="020B0200000000000000" charset="-122"/>
                      <a:ea typeface="NotoSansSC" panose="020B0200000000000000" charset="-122"/>
                    </a:rPr>
                    <a:t>04</a:t>
                  </a:r>
                  <a:endParaRPr lang="en-US" sz="2000" b="1" u="none" strike="noStrike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FillTx/>
                    <a:latin typeface="NotoSansSC" panose="020B0200000000000000" charset="-122"/>
                    <a:ea typeface="NotoSansSC" panose="020B0200000000000000" charset="-122"/>
                  </a:endParaRPr>
                </a:p>
              </p:txBody>
            </p:sp>
          </p:grpSp>
        </p:grpSp>
      </p:grpSp>
    </p:spTree>
    <p:custDataLst>
      <p:tags r:id="rId2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32000" y="0"/>
            <a:ext cx="4064000" cy="6934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3200" b="1"/>
              <a:t>一、决议事项跟进</a:t>
            </a:r>
            <a:endParaRPr lang="zh-CN" altLang="en-US" sz="3200" b="1"/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274552" cy="65836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本</a:t>
            </a:r>
            <a:r>
              <a:rPr lang="zh-CN" sz="2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周重点工作</a:t>
            </a:r>
            <a:r>
              <a:rPr sz="2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跟进例会决议  </a:t>
            </a:r>
            <a:r>
              <a:rPr sz="2200" b="1">
                <a:solidFill>
                  <a:srgbClr val="1F2937"/>
                </a:solidFill>
                <a:latin typeface="微软雅黑" charset="0"/>
                <a:ea typeface="微软雅黑" charset="0"/>
              </a:rPr>
              <a:t>5</a:t>
            </a:r>
            <a:r>
              <a:rPr sz="2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项：</a:t>
            </a:r>
            <a:r>
              <a:rPr sz="2400" b="1">
                <a:solidFill>
                  <a:srgbClr val="00B050"/>
                </a:solidFill>
                <a:latin typeface="微软雅黑" charset="0"/>
                <a:ea typeface="微软雅黑" charset="0"/>
              </a:rPr>
              <a:t>3</a:t>
            </a:r>
            <a:r>
              <a:rPr sz="2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项已完成</a:t>
            </a:r>
            <a:r>
              <a:rPr sz="2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</a:rPr>
              <a:t>项推进中</a:t>
            </a:r>
            <a:endParaRPr sz="24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Table 6"/>
          <p:cNvGraphicFramePr>
            <a:graphicFrameLocks noGrp="1"/>
          </p:cNvGraphicFramePr>
          <p:nvPr/>
        </p:nvGraphicFramePr>
        <p:xfrm>
          <a:off x="457200" y="1783080"/>
          <a:ext cx="11166475" cy="4238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8060"/>
                <a:gridCol w="4249420"/>
                <a:gridCol w="4545330"/>
                <a:gridCol w="1383665"/>
              </a:tblGrid>
              <a:tr h="34163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决议事项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当前进展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</a:tr>
              <a:tr h="64960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物流系统年底上线试运行</a:t>
                      </a:r>
                      <a:endParaRPr lang="zh-CN" altLang="en-US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sz="16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详设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  <a:cs typeface="Arial" panose="020B0604020202020204" pitchFamily="34" charset="0"/>
                        </a:rPr>
                        <a:t>完成</a:t>
                      </a:r>
                      <a:r>
                        <a:rPr lang="zh-CN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进入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功能开发测试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lang="zh-CN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阶段完成</a:t>
                      </a:r>
                      <a:endParaRPr lang="zh-CN" sz="16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  <a:tr h="64960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测试硬件设备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到货测试</a:t>
                      </a:r>
                      <a:endParaRPr lang="zh-CN" altLang="en-US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采购</a:t>
                      </a:r>
                      <a:r>
                        <a:rPr lang="zh-CN" altLang="en-US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中，</a:t>
                      </a:r>
                      <a:r>
                        <a:rPr lang="en-US" altLang="zh-CN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lang="zh-CN" altLang="en-US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月到货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进行中</a:t>
                      </a:r>
                      <a:endParaRPr lang="zh-CN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  <a:tr h="64897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财务及业务合规方案确认</a:t>
                      </a:r>
                      <a:endParaRPr lang="zh-CN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沟通完成，确认中</a:t>
                      </a:r>
                      <a:endParaRPr 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进行中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  <a:tr h="64960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网络及数采进度跟踪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港口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WIFI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施工完成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zh-CN" altLang="en-US" sz="1600" b="1">
                          <a:solidFill>
                            <a:srgbClr val="00B050"/>
                          </a:solidFill>
                          <a:latin typeface="微软雅黑" charset="0"/>
                          <a:ea typeface="微软雅黑" charset="0"/>
                        </a:rPr>
                        <a:t>阶段完成</a:t>
                      </a:r>
                      <a:endParaRPr lang="zh-CN" altLang="en-US" sz="1600" b="1">
                        <a:solidFill>
                          <a:srgbClr val="00B05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与ERP接口</a:t>
                      </a:r>
                      <a:r>
                        <a:rPr lang="zh-CN" altLang="en-US" sz="16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对接计划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沟通</a:t>
                      </a:r>
                      <a:r>
                        <a:rPr lang="zh-CN" altLang="en-US"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对接中</a:t>
                      </a:r>
                      <a:endParaRPr lang="zh-CN" altLang="en-US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阶段完成</a:t>
                      </a:r>
                      <a:endParaRPr lang="zh-CN" altLang="en-US" sz="16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endParaRPr lang="zh-CN" altLang="en-US"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endParaRPr lang="zh-CN" altLang="en-US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endParaRPr lang="zh-CN" altLang="en-US"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32000" y="0"/>
            <a:ext cx="4064000" cy="6934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3200" b="1"/>
              <a:t>二、安全</a:t>
            </a:r>
            <a:r>
              <a:rPr lang="en-US" altLang="zh-CN" sz="3200" b="1"/>
              <a:t>/</a:t>
            </a:r>
            <a:r>
              <a:rPr lang="zh-CN" altLang="en-US" sz="3200" b="1"/>
              <a:t>环保</a:t>
            </a:r>
            <a:endParaRPr lang="zh-CN" altLang="en-US" sz="3200" b="1"/>
          </a:p>
        </p:txBody>
      </p:sp>
      <p:sp>
        <p:nvSpPr>
          <p:cNvPr id="4" name="TextBox 3"/>
          <p:cNvSpPr txBox="1"/>
          <p:nvPr/>
        </p:nvSpPr>
        <p:spPr>
          <a:xfrm>
            <a:off x="457200" y="1045845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 panose="020B0503020204020204" charset="-122"/>
              </a:rPr>
              <a:t>7月安全运行情况</a:t>
            </a:r>
            <a:endParaRPr sz="14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65885"/>
            <a:ext cx="1371600" cy="36576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85925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85925"/>
            <a:ext cx="73152" cy="128016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3085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0B050"/>
                </a:solidFill>
                <a:latin typeface="微软雅黑" panose="020B0503020204020204" charset="-122"/>
              </a:rPr>
              <a:t>0</a:t>
            </a:r>
            <a:endParaRPr sz="36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32600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安全事故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0032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7月零事故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91840" y="1685925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85925"/>
            <a:ext cx="73152" cy="128016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3085"/>
            <a:ext cx="24231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>
                <a:solidFill>
                  <a:srgbClr val="00B050"/>
                </a:solidFill>
                <a:latin typeface="微软雅黑" panose="020B0503020204020204" charset="-122"/>
              </a:rPr>
              <a:t>0</a:t>
            </a:r>
            <a:endParaRPr lang="en-US" sz="36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2326005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</a:rPr>
              <a:t>网络安全事件</a:t>
            </a:r>
            <a:endParaRPr lang="zh-CN"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260032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网络安全零事故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6480" y="1685925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85925"/>
            <a:ext cx="73152" cy="1280160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23085"/>
            <a:ext cx="242316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>
                <a:solidFill>
                  <a:srgbClr val="1A77E6"/>
                </a:solidFill>
                <a:latin typeface="微软雅黑" panose="020B0503020204020204" charset="-122"/>
              </a:rPr>
              <a:t>0</a:t>
            </a:r>
            <a:endParaRPr lang="en-US" sz="3600" b="1">
              <a:solidFill>
                <a:srgbClr val="1A77E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232600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隐患整改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260032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累计完成项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61120" y="1685925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685925"/>
            <a:ext cx="73152" cy="128016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823085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0B050"/>
                </a:solidFill>
                <a:latin typeface="微软雅黑" panose="020B0503020204020204" charset="-122"/>
              </a:rPr>
              <a:t>100%</a:t>
            </a:r>
            <a:endParaRPr sz="36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0" y="232600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劳保佩戴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0" y="2600325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现场作业合规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3240405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D4A9A"/>
                </a:solidFill>
                <a:latin typeface="微软雅黑" panose="020B0503020204020204" charset="-122"/>
              </a:rPr>
              <a:t>■ 安全管理重点工作</a:t>
            </a:r>
            <a:endParaRPr sz="18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3697605"/>
            <a:ext cx="457200" cy="457200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4332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80160" y="369760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A9A"/>
                </a:solidFill>
                <a:latin typeface="微软雅黑" panose="020B0503020204020204" charset="-122"/>
              </a:rPr>
              <a:t>每周班组安全早会</a:t>
            </a:r>
            <a:endParaRPr sz="16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80160" y="3971925"/>
            <a:ext cx="457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 panose="020B0503020204020204" charset="-122"/>
              </a:rPr>
              <a:t>全员覆盖，</a:t>
            </a:r>
            <a:r>
              <a:rPr lang="zh-CN" sz="1300" b="0">
                <a:solidFill>
                  <a:srgbClr val="666666"/>
                </a:solidFill>
                <a:latin typeface="微软雅黑" panose="020B0503020204020204" charset="-122"/>
              </a:rPr>
              <a:t>强调上班、下班</a:t>
            </a:r>
            <a:r>
              <a:rPr lang="zh-CN" altLang="en-US" sz="1300" b="0">
                <a:solidFill>
                  <a:srgbClr val="666666"/>
                </a:solidFill>
                <a:latin typeface="微软雅黑" panose="020B0503020204020204" charset="-122"/>
              </a:rPr>
              <a:t>全时段安全风险防控</a:t>
            </a:r>
            <a:endParaRPr lang="zh-CN"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" y="4291965"/>
            <a:ext cx="457200" cy="457200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3768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80160" y="429196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A9A"/>
                </a:solidFill>
                <a:latin typeface="微软雅黑" panose="020B0503020204020204" charset="-122"/>
              </a:rPr>
              <a:t>现场作业安全交底</a:t>
            </a:r>
            <a:endParaRPr sz="16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80160" y="4566285"/>
            <a:ext cx="457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0">
                <a:solidFill>
                  <a:srgbClr val="666666"/>
                </a:solidFill>
                <a:latin typeface="微软雅黑" panose="020B0503020204020204" charset="-122"/>
              </a:rPr>
              <a:t>正确穿戴劳保用品，由熟悉现场环境的人员陪同</a:t>
            </a:r>
            <a:r>
              <a:rPr lang="zh-CN" sz="1300" b="0">
                <a:solidFill>
                  <a:srgbClr val="666666"/>
                </a:solidFill>
                <a:latin typeface="微软雅黑" panose="020B0503020204020204" charset="-122"/>
              </a:rPr>
              <a:t>作业</a:t>
            </a:r>
            <a:endParaRPr lang="zh-CN"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" y="4886325"/>
            <a:ext cx="457200" cy="457200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9320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80160" y="488632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A9A"/>
                </a:solidFill>
                <a:latin typeface="微软雅黑" panose="020B0503020204020204" charset="-122"/>
              </a:rPr>
              <a:t>隐患排查整改</a:t>
            </a:r>
            <a:endParaRPr sz="16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5480685"/>
            <a:ext cx="457200" cy="457200"/>
          </a:xfrm>
          <a:prstGeom prst="rect">
            <a:avLst/>
          </a:prstGeom>
          <a:solidFill>
            <a:srgbClr val="1A7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52640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5480685"/>
            <a:ext cx="4572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A9A"/>
                </a:solidFill>
                <a:latin typeface="微软雅黑" panose="020B0503020204020204" charset="-122"/>
              </a:rPr>
              <a:t>网络</a:t>
            </a:r>
            <a:r>
              <a:rPr lang="zh-CN" sz="1600" b="1">
                <a:solidFill>
                  <a:srgbClr val="0D4A9A"/>
                </a:solidFill>
                <a:latin typeface="微软雅黑" panose="020B0503020204020204" charset="-122"/>
              </a:rPr>
              <a:t>及数据</a:t>
            </a:r>
            <a:r>
              <a:rPr sz="1600" b="1">
                <a:solidFill>
                  <a:srgbClr val="0D4A9A"/>
                </a:solidFill>
                <a:latin typeface="微软雅黑" panose="020B0503020204020204" charset="-122"/>
              </a:rPr>
              <a:t>安全防护</a:t>
            </a:r>
            <a:endParaRPr sz="16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80160" y="5755005"/>
            <a:ext cx="457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300" b="0">
                <a:solidFill>
                  <a:srgbClr val="666666"/>
                </a:solidFill>
                <a:latin typeface="微软雅黑" panose="020B0503020204020204" charset="-122"/>
              </a:rPr>
              <a:t>防范未知病毒隐患，严格账号权限</a:t>
            </a:r>
            <a:r>
              <a:rPr lang="zh-CN" altLang="en-US" sz="1300" b="0">
                <a:solidFill>
                  <a:srgbClr val="666666"/>
                </a:solidFill>
                <a:latin typeface="微软雅黑" panose="020B0503020204020204" charset="-122"/>
              </a:rPr>
              <a:t>管理，严守数据保密规范</a:t>
            </a:r>
            <a:endParaRPr lang="zh-CN" altLang="en-US"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17920" y="3156585"/>
            <a:ext cx="5486400" cy="2872740"/>
          </a:xfrm>
          <a:prstGeom prst="rect">
            <a:avLst/>
          </a:prstGeom>
          <a:solidFill>
            <a:srgbClr val="E3F2FD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331845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D4A9A"/>
                </a:solidFill>
                <a:latin typeface="微软雅黑" panose="020B0503020204020204" charset="-122"/>
              </a:rPr>
              <a:t>■ 环保 / 5S 工作</a:t>
            </a:r>
            <a:endParaRPr sz="1800" b="1">
              <a:solidFill>
                <a:srgbClr val="0D4A9A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38347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B050"/>
                </a:solidFill>
                <a:latin typeface="微软雅黑" panose="020B0503020204020204" charset="-122"/>
              </a:rPr>
              <a:t>✓</a:t>
            </a:r>
            <a:endParaRPr sz="14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66560" y="3834765"/>
            <a:ext cx="49377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办公区域</a:t>
            </a:r>
            <a:r>
              <a:rPr sz="1300"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5S标准化管理持续推行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0800" y="421881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B050"/>
                </a:solidFill>
                <a:latin typeface="微软雅黑" panose="020B0503020204020204" charset="-122"/>
              </a:rPr>
              <a:t>✓</a:t>
            </a:r>
            <a:endParaRPr sz="14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66560" y="4218813"/>
            <a:ext cx="49377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0">
                <a:solidFill>
                  <a:srgbClr val="333333"/>
                </a:solidFill>
                <a:latin typeface="微软雅黑" panose="020B0503020204020204" charset="-122"/>
              </a:rPr>
              <a:t>劳保用品规范穿戴</a:t>
            </a: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持续推行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00800" y="4547997"/>
            <a:ext cx="2743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400" b="1">
              <a:solidFill>
                <a:srgbClr val="00B050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75120" y="4547997"/>
            <a:ext cx="49377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>
                <a:solidFill>
                  <a:srgbClr val="333333"/>
                </a:solidFill>
                <a:latin typeface="微软雅黑" panose="020B0503020204020204" charset="-122"/>
              </a:rPr>
              <a:t>  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" name="TextBox 41"/>
          <p:cNvSpPr txBox="1"/>
          <p:nvPr/>
        </p:nvSpPr>
        <p:spPr>
          <a:xfrm>
            <a:off x="1325880" y="5206365"/>
            <a:ext cx="457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300" b="0">
                <a:solidFill>
                  <a:srgbClr val="666666"/>
                </a:solidFill>
                <a:latin typeface="微软雅黑" panose="020B0503020204020204" charset="-122"/>
              </a:rPr>
              <a:t>排查各软件</a:t>
            </a:r>
            <a:r>
              <a:rPr lang="zh-CN" altLang="en-US" sz="1300" b="0">
                <a:solidFill>
                  <a:srgbClr val="666666"/>
                </a:solidFill>
                <a:latin typeface="微软雅黑" panose="020B0503020204020204" charset="-122"/>
              </a:rPr>
              <a:t>系统隐患 闭环安全整改</a:t>
            </a:r>
            <a:endParaRPr lang="zh-CN" altLang="en-US"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32000" y="0"/>
            <a:ext cx="6870700" cy="6934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3200" b="1"/>
              <a:t>三、运营情况</a:t>
            </a:r>
            <a:r>
              <a:rPr lang="en-US" altLang="zh-CN" sz="3200" b="1"/>
              <a:t>/</a:t>
            </a:r>
            <a:r>
              <a:rPr lang="zh-CN" altLang="en-US" sz="3200" b="1"/>
              <a:t>重点工作</a:t>
            </a:r>
            <a:endParaRPr lang="zh-CN" altLang="en-US" sz="3200" b="1"/>
          </a:p>
        </p:txBody>
      </p:sp>
      <p:sp>
        <p:nvSpPr>
          <p:cNvPr id="3" name="AutoShape 2"/>
          <p:cNvSpPr/>
          <p:nvPr/>
        </p:nvSpPr>
        <p:spPr>
          <a:xfrm>
            <a:off x="589280" y="93472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重点项目看板明细表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589280" y="150622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89280" y="1765300"/>
          <a:ext cx="11155045" cy="375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580"/>
                <a:gridCol w="1239520"/>
                <a:gridCol w="930910"/>
                <a:gridCol w="7265035"/>
              </a:tblGrid>
              <a:tr h="520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项目阶段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项目数量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项目明细</a:t>
                      </a:r>
                      <a:endParaRPr lang="zh-CN" altLang="en-US"/>
                    </a:p>
                  </a:txBody>
                  <a:tcPr anchor="ctr"/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🔍 开始阶段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en-US" altLang="zh-CN" sz="160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Arial" panose="020B0604020202020204" pitchFamily="34" charset="0"/>
                        </a:rPr>
                        <a:t>3.3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智慧物流</a:t>
                      </a:r>
                      <a:endParaRPr lang="zh-CN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</a:tr>
              <a:tr h="1126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⚙️ 实施阶段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33.3%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晨曦计量</a:t>
                      </a:r>
                      <a:endParaRPr lang="zh-CN" altLang="en-US" sz="16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✅ 验收阶段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33.3%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6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计量二期</a:t>
                      </a:r>
                      <a:endParaRPr lang="zh-CN" sz="16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----</a:t>
                      </a:r>
                      <a:endParaRPr lang="en-US" altLang="en-US" sz="16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800832" y="0"/>
            <a:ext cx="73152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ym typeface="+mn-ea"/>
              </a:rPr>
              <a:t>三、运营情况</a:t>
            </a:r>
            <a:r>
              <a:rPr lang="en-US" altLang="zh-CN" sz="3200" b="1">
                <a:sym typeface="+mn-ea"/>
              </a:rPr>
              <a:t>/</a:t>
            </a:r>
            <a:r>
              <a:rPr lang="zh-CN" altLang="en-US" sz="3200" b="1">
                <a:sym typeface="+mn-ea"/>
              </a:rPr>
              <a:t>重点工作</a:t>
            </a:r>
            <a:endParaRPr lang="zh-CN" altLang="en-US" sz="3200" b="1">
              <a:sym typeface="+mn-ea"/>
            </a:endParaRPr>
          </a:p>
        </p:txBody>
      </p:sp>
      <p:pic>
        <p:nvPicPr>
          <p:cNvPr id="4" name="图片 3" descr="post_object_image_17141719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546" y="744384"/>
            <a:ext cx="9722855" cy="53692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32000" y="0"/>
            <a:ext cx="6870700" cy="6934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3200" b="1"/>
              <a:t>三、运营情况</a:t>
            </a:r>
            <a:r>
              <a:rPr lang="en-US" altLang="zh-CN" sz="3200" b="1"/>
              <a:t>/</a:t>
            </a:r>
            <a:r>
              <a:rPr lang="zh-CN" altLang="en-US" sz="3200" b="1"/>
              <a:t>重点工作</a:t>
            </a:r>
            <a:endParaRPr lang="zh-CN" altLang="en-US" sz="3200" b="1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2735" y="1066165"/>
          <a:ext cx="11274425" cy="454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2825"/>
                <a:gridCol w="8778240"/>
                <a:gridCol w="1483360"/>
              </a:tblGrid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</a:t>
                      </a: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成果（成果+数据）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4874CB"/>
                    </a:solidFill>
                  </a:tcPr>
                </a:tc>
              </a:tr>
              <a:tr h="267716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智慧物流</a:t>
                      </a:r>
                      <a:endParaRPr 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MMS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功能模块测试完成，上线测试中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OA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审批流程封装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测试完成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TOBE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功能完善及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bug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修复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、新产销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系统沟通，原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LIMS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及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MES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系统接口对接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数采接口已开发测试完成，待物流集成测试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功能验收完成至20%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、港口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WIFI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安装调试完成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ERP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产销、大宗业务及接口沟通交流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9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、树根设备接口集成测试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10</a:t>
                      </a:r>
                      <a:r>
                        <a:rPr lang="zh-CN" altLang="en-US" sz="1400" b="0">
                          <a:solidFill>
                            <a:srgbClr val="1F2937"/>
                          </a:solidFill>
                          <a:latin typeface="微软雅黑" charset="0"/>
                          <a:ea typeface="微软雅黑" charset="0"/>
                        </a:rPr>
                        <a:t>、仓库大宗到货入库业务方案技术细节讨论</a:t>
                      </a:r>
                      <a:endParaRPr lang="zh-CN" altLang="en-US" sz="1400" b="0">
                        <a:solidFill>
                          <a:srgbClr val="1F2937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EE82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进行中</a:t>
                      </a:r>
                      <a:endParaRPr sz="1500" b="1">
                        <a:solidFill>
                          <a:srgbClr val="EE82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endParaRPr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lang="zh-CN" sz="14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endParaRPr sz="15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0043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晨曦计量</a:t>
                      </a:r>
                      <a:endParaRPr lang="zh-CN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lang="zh-CN" altLang="en-US" sz="14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endParaRPr lang="zh-CN" altLang="en-US" sz="14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en-US" altLang="zh-CN" sz="14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en-US" altLang="zh-CN" sz="14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317</a:t>
                      </a:r>
                      <a:r>
                        <a:rPr lang="zh-CN" altLang="en-US" sz="14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地磅设备安装完成，调试完成</a:t>
                      </a:r>
                      <a:endParaRPr lang="zh-CN" altLang="en-US" sz="14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endParaRPr lang="zh-CN" altLang="en-US" sz="14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ClrTx/>
                        <a:buSzTx/>
                        <a:buFontTx/>
                      </a:pPr>
                      <a:r>
                        <a:rPr sz="1500" b="1">
                          <a:solidFill>
                            <a:srgbClr val="EE82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进行中</a:t>
                      </a:r>
                      <a:endParaRPr sz="1500" b="1">
                        <a:solidFill>
                          <a:srgbClr val="EE822F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3152" marR="73152" marT="36576" marB="36576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32000" y="0"/>
            <a:ext cx="4064000" cy="6934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3200" b="1"/>
              <a:t>四、精益、</a:t>
            </a:r>
            <a:r>
              <a:rPr lang="en-US" altLang="zh-CN" sz="3200" b="1"/>
              <a:t>SCORE</a:t>
            </a:r>
            <a:endParaRPr lang="en-US" altLang="zh-CN" sz="3200" b="1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37845" y="1383665"/>
          <a:ext cx="5265420" cy="3657917"/>
        </p:xfrm>
        <a:graphic>
          <a:graphicData uri="http://schemas.openxmlformats.org/drawingml/2006/table">
            <a:tbl>
              <a:tblPr/>
              <a:tblGrid>
                <a:gridCol w="675005"/>
                <a:gridCol w="2471420"/>
                <a:gridCol w="2118995"/>
              </a:tblGrid>
              <a:tr h="475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项目类别</a:t>
                      </a:r>
                      <a:endParaRPr lang="en-US" altLang="zh-CN" sz="16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数量（项）</a:t>
                      </a:r>
                      <a:endParaRPr lang="en-US" altLang="zh-CN" sz="16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技术改进类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成本改善类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质量改进类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人力资源改进类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经营管理改善类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职工保护改善类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自动化和信息化改进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及其他类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合理化建议（筛选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后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7845" y="5172710"/>
            <a:ext cx="11181080" cy="7861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l" fontAlgn="ctr">
              <a:lnSpc>
                <a:spcPct val="130000"/>
              </a:lnSpc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ctr">
              <a:lnSpc>
                <a:spcPct val="12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日-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23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提议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项，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采纳1项，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整改完成率为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“以点带面”推广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项，“回头看”检查数量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项，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SOP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作业指导书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标准固化文件（精益培训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新增精益项目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可替换成有工作进展的</a:t>
            </a:r>
            <a:r>
              <a:rPr lang="en-US" altLang="zh-CN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项。</a:t>
            </a:r>
            <a:endParaRPr lang="zh-CN" altLang="en-US" sz="20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ctr"/>
            <a:endParaRPr lang="zh-CN" alt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418580" y="1383665"/>
          <a:ext cx="5491480" cy="3657600"/>
        </p:xfrm>
        <a:graphic>
          <a:graphicData uri="http://schemas.openxmlformats.org/drawingml/2006/table">
            <a:tbl>
              <a:tblPr/>
              <a:tblGrid>
                <a:gridCol w="676910"/>
                <a:gridCol w="3185160"/>
                <a:gridCol w="1629410"/>
              </a:tblGrid>
              <a:tr h="505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54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类型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54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数量（项）</a:t>
                      </a:r>
                      <a:endParaRPr lang="en-US" altLang="zh-CN" sz="16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54A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“以点带面”推广数量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“回头看”检查数量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提报经典案例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数量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园区采纳刊发数量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SOP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作业指导书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标准固化文件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精益培训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新增精益项目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 gridSpan="2"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800" b="1" i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0" y="8712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b="1">
                <a:sym typeface="+mn-ea"/>
              </a:rPr>
              <a:t>(</a:t>
            </a:r>
            <a:r>
              <a:rPr lang="zh-CN" altLang="en-US" sz="2400" b="1">
                <a:sym typeface="+mn-ea"/>
              </a:rPr>
              <a:t>一</a:t>
            </a:r>
            <a:r>
              <a:rPr lang="en-US" altLang="zh-CN" sz="2400" b="1">
                <a:sym typeface="+mn-ea"/>
              </a:rPr>
              <a:t>)</a:t>
            </a:r>
            <a:r>
              <a:rPr lang="zh-CN" altLang="en-US" sz="2400" b="1">
                <a:sym typeface="+mn-ea"/>
              </a:rPr>
              <a:t>合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理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化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建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议</a:t>
            </a:r>
            <a:endParaRPr lang="zh-CN" altLang="en-US" sz="2400" b="1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871220"/>
            <a:ext cx="58508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b="1">
                <a:sym typeface="+mn-ea"/>
              </a:rPr>
              <a:t>(</a:t>
            </a:r>
            <a:r>
              <a:rPr lang="zh-CN" altLang="en-US" sz="2400" b="1">
                <a:sym typeface="+mn-ea"/>
              </a:rPr>
              <a:t>二</a:t>
            </a:r>
            <a:r>
              <a:rPr lang="en-US" altLang="zh-CN" sz="2400" b="1">
                <a:sym typeface="+mn-ea"/>
              </a:rPr>
              <a:t>)</a:t>
            </a:r>
            <a:r>
              <a:rPr lang="zh-CN" altLang="en-US" sz="2400" b="1">
                <a:sym typeface="+mn-ea"/>
              </a:rPr>
              <a:t>重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要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指</a:t>
            </a:r>
            <a:r>
              <a:rPr lang="en-US" altLang="zh-CN" sz="2400" b="1">
                <a:sym typeface="+mn-ea"/>
              </a:rPr>
              <a:t> </a:t>
            </a:r>
            <a:r>
              <a:rPr lang="zh-CN" altLang="en-US" sz="2400" b="1">
                <a:sym typeface="+mn-ea"/>
              </a:rPr>
              <a:t>标</a:t>
            </a:r>
            <a:endParaRPr lang="zh-CN" altLang="en-US" sz="2400" b="1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87220" y="64135"/>
            <a:ext cx="668972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/>
              <a:t>五. 重点工作计划</a:t>
            </a:r>
            <a:endParaRPr lang="zh-CN" altLang="en-US" sz="3200" b="1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549888" y="1025560"/>
          <a:ext cx="11092180" cy="4794885"/>
        </p:xfrm>
        <a:graphic>
          <a:graphicData uri="http://schemas.openxmlformats.org/drawingml/2006/table">
            <a:tbl>
              <a:tblPr firstRow="1">
                <a:tableStyleId>{E2E90994-FF92-498B-9AF7-8F3AC2D6559B}</a:tableStyleId>
              </a:tblPr>
              <a:tblGrid>
                <a:gridCol w="1461135"/>
                <a:gridCol w="8455660"/>
                <a:gridCol w="1175385"/>
              </a:tblGrid>
              <a:tr h="4731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spc="120" dirty="0"/>
                        <a:t>序号</a:t>
                      </a:r>
                      <a:endParaRPr lang="zh-CN" altLang="en-US" sz="1400" spc="120" dirty="0"/>
                    </a:p>
                  </a:txBody>
                  <a:tcPr marL="177800" marR="177800" marT="66675" marB="66675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spc="120" dirty="0"/>
                        <a:t>工作计划</a:t>
                      </a:r>
                      <a:endParaRPr lang="zh-CN" altLang="en-US" sz="1400" spc="120" dirty="0"/>
                    </a:p>
                  </a:txBody>
                  <a:tcPr marL="177800" marR="177800" marT="66675" marB="66675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spc="120" dirty="0"/>
                        <a:t>备注</a:t>
                      </a:r>
                      <a:endParaRPr lang="zh-CN" altLang="en-US" sz="1400" spc="120" dirty="0"/>
                    </a:p>
                  </a:txBody>
                  <a:tcPr marL="177800" marR="177800" marT="66675" marB="66675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221666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/>
                        <a:t>智慧物流</a:t>
                      </a:r>
                      <a:endParaRPr lang="zh-CN" altLang="en-US" sz="1000" b="1"/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en-US" altLang="zh-CN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ERP</a:t>
                      </a:r>
                      <a:r>
                        <a:rPr lang="zh-CN" altLang="en-US" sz="1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主数据及计费项业务对接及接口字段内容沟通</a:t>
                      </a:r>
                      <a:endParaRPr lang="zh-CN" altLang="en-US" sz="10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、汽修厂维修项目功能完善及与业务部门对接收集基础数据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3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、计量</a:t>
                      </a: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MMS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上线功能完善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、智慧物流与数采平台接口对接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5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、树根设备功能集成测试（待完善部分）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6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ERP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与物流接口对接专项沟通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7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TOBE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功能开发完成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8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、仓库大宗到货入库功能开发确认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9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、功能验收完成至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</a:t>
                      </a:r>
                      <a:r>
                        <a:rPr lang="zh-CN" altLang="en-US" sz="1000" dirty="0">
                          <a:latin typeface="微软雅黑" charset="0"/>
                          <a:ea typeface="微软雅黑" charset="0"/>
                          <a:sym typeface="+mn-ea"/>
                        </a:rPr>
                        <a:t>0%</a:t>
                      </a: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lvl="1" algn="l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zh-CN" altLang="en-US" sz="1000" dirty="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000" spc="120" dirty="0"/>
                    </a:p>
                  </a:txBody>
                  <a:tcPr marL="177800" marR="177800" marT="66675" marB="66675" anchor="ctr"/>
                </a:tc>
              </a:tr>
              <a:tr h="13086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spc="120">
                          <a:sym typeface="+mn-ea"/>
                        </a:rPr>
                        <a:t>晨曦计量</a:t>
                      </a:r>
                      <a:endParaRPr lang="zh-CN" altLang="en-US" sz="1000" b="1" spc="120">
                        <a:sym typeface="+mn-ea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en-US" altLang="zh-CN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317 </a:t>
                      </a:r>
                      <a:r>
                        <a:rPr lang="zh-CN" altLang="en-US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地磅试运行，恒嘉亚本地部署系统试运行  </a:t>
                      </a:r>
                      <a:r>
                        <a:rPr lang="en-US" altLang="zh-CN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000" spc="12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、恒嘉亚设备进矿，人员进矿</a:t>
                      </a:r>
                      <a:endParaRPr lang="zh-CN" altLang="en-US" sz="1000" spc="12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spc="120" dirty="0"/>
                    </a:p>
                  </a:txBody>
                  <a:tcPr marL="177800" marR="177800" marT="66675" marB="66675" anchor="ctr"/>
                </a:tc>
              </a:tr>
              <a:tr h="79629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1" spc="120"/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spc="12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000" spc="120" dirty="0"/>
                    </a:p>
                  </a:txBody>
                  <a:tcPr marL="177800" marR="177800" marT="66675" marB="66675"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.xml><?xml version="1.0" encoding="utf-8"?>
<p:tagLst xmlns:p="http://schemas.openxmlformats.org/presentationml/2006/main">
  <p:tag name="KSO_DOCER_RESOURCE_TRACE_INFO" val="{&quot;id&quot;:&quot;25002963&quot;,&quot;origin&quot;:0,&quot;type&quot;:&quot;wordart&quot;,&quot;user&quot;:&quot;418130595&quot;}"/>
</p:tagLst>
</file>

<file path=ppt/tags/tag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2&quot;:[25002963],&quot;65&quot;:[20205081]}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DIAGRAM_VIRTUALLY_FRAME" val="{&quot;height&quot;:388.0746456692914,&quot;left&quot;:358.95,&quot;top&quot;:92.20000000000002,&quot;width&quot;:365.15}"/>
</p:tagLst>
</file>

<file path=ppt/tags/tag17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18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19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0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1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2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3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4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5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6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7.xml><?xml version="1.0" encoding="utf-8"?>
<p:tagLst xmlns:p="http://schemas.openxmlformats.org/presentationml/2006/main">
  <p:tag name="KSO_WM_DIAGRAM_VIRTUALLY_FRAME" val="{&quot;height&quot;:380.7,&quot;left&quot;:138.55,&quot;top&quot;:96.45,&quot;width&quot;:714.8}"/>
</p:tagLst>
</file>

<file path=ppt/tags/tag28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29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0.xml><?xml version="1.0" encoding="utf-8"?>
<p:tagLst xmlns:p="http://schemas.openxmlformats.org/presentationml/2006/main">
  <p:tag name="KSO_WM_DIAGRAM_VIRTUALLY_FRAME" val="{&quot;height&quot;:380.7,&quot;left&quot;:138.55,&quot;top&quot;:96.45,&quot;width&quot;:714.8}"/>
</p:tagLst>
</file>

<file path=ppt/tags/tag31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2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3.xml><?xml version="1.0" encoding="utf-8"?>
<p:tagLst xmlns:p="http://schemas.openxmlformats.org/presentationml/2006/main">
  <p:tag name="KSO_WM_DIAGRAM_VIRTUALLY_FRAME" val="{&quot;height&quot;:380.7,&quot;left&quot;:138.55,&quot;top&quot;:96.45,&quot;width&quot;:714.8}"/>
</p:tagLst>
</file>

<file path=ppt/tags/tag34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5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6.xml><?xml version="1.0" encoding="utf-8"?>
<p:tagLst xmlns:p="http://schemas.openxmlformats.org/presentationml/2006/main">
  <p:tag name="KSO_WM_DIAGRAM_VIRTUALLY_FRAME" val="{&quot;height&quot;:380.7,&quot;left&quot;:138.55,&quot;top&quot;:96.45,&quot;width&quot;:714.8}"/>
</p:tagLst>
</file>

<file path=ppt/tags/tag37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8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39.xml><?xml version="1.0" encoding="utf-8"?>
<p:tagLst xmlns:p="http://schemas.openxmlformats.org/presentationml/2006/main">
  <p:tag name="KSO_WM_DIAGRAM_VIRTUALLY_FRAME" val="{&quot;height&quot;:380.7,&quot;left&quot;:138.55,&quot;top&quot;:96.45,&quot;width&quot;:714.8}"/>
</p:tagLst>
</file>

<file path=ppt/tags/tag40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41.xml><?xml version="1.0" encoding="utf-8"?>
<p:tagLst xmlns:p="http://schemas.openxmlformats.org/presentationml/2006/main">
  <p:tag name="KSO_WM_DIAGRAM_VIRTUALLY_FRAME" val="{&quot;height&quot;:388.07464566929133,&quot;left&quot;:358.95,&quot;top&quot;:92.20000000000002,&quot;width&quot;:365.15}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TABLE_ENDDRAG_ORIGIN_RECT" val="878*278"/>
  <p:tag name="TABLE_ENDDRAG_RECT" val="46*139*878*278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TABLE_ENDDRAG_ORIGIN_RECT" val="887*351"/>
  <p:tag name="TABLE_ENDDRAG_RECT" val="23*83*887*351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TABLE_ENDDRAG_ORIGIN_RECT" val="414*302"/>
  <p:tag name="TABLE_ENDDRAG_RECT" val="42*108*414*302"/>
</p:tagLst>
</file>

<file path=ppt/tags/tag51.xml><?xml version="1.0" encoding="utf-8"?>
<p:tagLst xmlns:p="http://schemas.openxmlformats.org/presentationml/2006/main">
  <p:tag name="TABLE_ENDDRAG_ORIGIN_RECT" val="432*288"/>
  <p:tag name="TABLE_ENDDRAG_RECT" val="505*108*432*288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TABLE_ENDDRAG_ORIGIN_RECT" val="873*372"/>
  <p:tag name="TABLE_ENDDRAG_RECT" val="25*83*873*372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RESOURCE_RECORD_KEY" val="{&quot;12&quot;:[25002963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1814</Words>
  <Application>WPS Office WWO_wpscloud_20260819174756-ed9259823c</Application>
  <PresentationFormat>宽屏</PresentationFormat>
  <Paragraphs>472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Kingsoft Confetti</vt:lpstr>
      <vt:lpstr>Noto Sans SC</vt:lpstr>
      <vt:lpstr>思源黑体 CN VF</vt:lpstr>
      <vt:lpstr>汉仪雅酷黑W</vt:lpstr>
      <vt:lpstr>微软雅黑</vt:lpstr>
      <vt:lpstr>汉仪旗黑KW 55S</vt:lpstr>
      <vt:lpstr>微软雅黑</vt:lpstr>
      <vt:lpstr>方正楷体_GBK</vt:lpstr>
      <vt:lpstr>汉仪楷体KW</vt:lpstr>
      <vt:lpstr>Times New Roman</vt:lpstr>
      <vt:lpstr>NotoSansSC</vt:lpstr>
      <vt:lpstr>汉仪书宋二KW</vt:lpstr>
      <vt:lpstr>Noto Emoji</vt:lpstr>
      <vt:lpstr>DejaVu Sans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魔蝎虎</cp:lastModifiedBy>
  <dcterms:created xsi:type="dcterms:W3CDTF">2026-08-22T00:02:30Z</dcterms:created>
  <dcterms:modified xsi:type="dcterms:W3CDTF">2026-08-22T00:02:30Z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2052-12.9.0.28503</vt:lpwstr>
  </property>
  <property fmtid="{D5CDD505-2E9C-101B-9397-08002B2CF9AE}" pid="3" name="ICV">
    <vt:lpwstr>27ADF5D724E7482781015E57202001B6_13</vt:lpwstr>
  </property>
</Properties>
</file>